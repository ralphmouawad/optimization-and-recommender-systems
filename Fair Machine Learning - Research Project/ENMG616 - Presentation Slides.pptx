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sldIdLst>
    <p:sldId id="256" r:id="rId2"/>
    <p:sldId id="264" r:id="rId3"/>
    <p:sldId id="257" r:id="rId4"/>
    <p:sldId id="258" r:id="rId5"/>
    <p:sldId id="259" r:id="rId6"/>
    <p:sldId id="260" r:id="rId7"/>
    <p:sldId id="261" r:id="rId8"/>
    <p:sldId id="262" r:id="rId9"/>
    <p:sldId id="263" r:id="rId10"/>
    <p:sldId id="265" r:id="rId11"/>
    <p:sldId id="266" r:id="rId12"/>
    <p:sldId id="274" r:id="rId13"/>
    <p:sldId id="268" r:id="rId14"/>
    <p:sldId id="269" r:id="rId15"/>
    <p:sldId id="271" r:id="rId16"/>
    <p:sldId id="273" r:id="rId17"/>
    <p:sldId id="272" r:id="rId18"/>
    <p:sldId id="275" r:id="rId19"/>
    <p:sldId id="277" r:id="rId20"/>
    <p:sldId id="281" r:id="rId21"/>
    <p:sldId id="278" r:id="rId22"/>
    <p:sldId id="279" r:id="rId23"/>
    <p:sldId id="28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31" autoAdjust="0"/>
    <p:restoredTop sz="94660"/>
  </p:normalViewPr>
  <p:slideViewPr>
    <p:cSldViewPr snapToGrid="0">
      <p:cViewPr>
        <p:scale>
          <a:sx n="97" d="100"/>
          <a:sy n="97" d="100"/>
        </p:scale>
        <p:origin x="96" y="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4/9/2024</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94264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4/9/2024</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718579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4/9/2024</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82900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4/9/2024</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083310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4/9/2024</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77833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4/9/2024</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048405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4/9/2024</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55118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4/9/2024</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8630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4/9/2024</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702989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4/9/2024</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22595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4/9/2024</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19354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4/9/2024</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40163116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16" r:id="rId6"/>
    <p:sldLayoutId id="2147483712" r:id="rId7"/>
    <p:sldLayoutId id="2147483713" r:id="rId8"/>
    <p:sldLayoutId id="2147483714" r:id="rId9"/>
    <p:sldLayoutId id="2147483715" r:id="rId10"/>
    <p:sldLayoutId id="2147483717"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6" name="Freeform: Shape 75">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78" name="Freeform: Shape 77">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80" name="Freeform: Shape 79">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82"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83" name="Freeform: Shape 82">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84" name="Freeform: Shape 83">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85" name="Freeform: Shape 84">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86" name="Freeform: Shape 85">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87" name="Freeform: Shape 86">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88" name="Freeform: Shape 87">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89" name="Freeform: Shape 88">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91"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92" name="Freeform: Shape 91">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93" name="Freeform: Shape 92">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94" name="Freeform: Shape 93">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95" name="Freeform: Shape 94">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96" name="Freeform: Shape 95">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97" name="Freeform: Shape 96">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98" name="Freeform: Shape 97">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100" name="Rectangle 9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2" name="Rectangle 101">
            <a:extLst>
              <a:ext uri="{FF2B5EF4-FFF2-40B4-BE49-F238E27FC236}">
                <a16:creationId xmlns:a16="http://schemas.microsoft.com/office/drawing/2014/main" id="{FBFC6891-CBA5-427E-98AC-BF56BB033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9" name="TextBox 8">
            <a:extLst>
              <a:ext uri="{FF2B5EF4-FFF2-40B4-BE49-F238E27FC236}">
                <a16:creationId xmlns:a16="http://schemas.microsoft.com/office/drawing/2014/main" id="{1FBD2496-BB59-399C-353B-6267B0F497FE}"/>
              </a:ext>
            </a:extLst>
          </p:cNvPr>
          <p:cNvSpPr txBox="1"/>
          <p:nvPr/>
        </p:nvSpPr>
        <p:spPr>
          <a:xfrm>
            <a:off x="399599" y="4078552"/>
            <a:ext cx="5305876" cy="2040973"/>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400" b="1" kern="1200" cap="none" spc="0" dirty="0">
                <a:ln w="0"/>
                <a:solidFill>
                  <a:schemeClr val="tx2"/>
                </a:solidFill>
                <a:effectLst>
                  <a:outerShdw blurRad="38100" dist="19050" dir="2700000" algn="tl" rotWithShape="0">
                    <a:schemeClr val="dk1">
                      <a:alpha val="40000"/>
                    </a:schemeClr>
                  </a:outerShdw>
                </a:effectLst>
                <a:latin typeface="+mj-lt"/>
                <a:ea typeface="+mj-ea"/>
                <a:cs typeface="+mj-cs"/>
              </a:rPr>
              <a:t>Department of Industrial Engineering &amp; Management </a:t>
            </a:r>
          </a:p>
        </p:txBody>
      </p:sp>
      <p:grpSp>
        <p:nvGrpSpPr>
          <p:cNvPr id="104" name="Bottom Right">
            <a:extLst>
              <a:ext uri="{FF2B5EF4-FFF2-40B4-BE49-F238E27FC236}">
                <a16:creationId xmlns:a16="http://schemas.microsoft.com/office/drawing/2014/main" id="{D817ADB7-00E6-482F-BD8B-6813268266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105" name="Freeform: Shape 104">
              <a:extLst>
                <a:ext uri="{FF2B5EF4-FFF2-40B4-BE49-F238E27FC236}">
                  <a16:creationId xmlns:a16="http://schemas.microsoft.com/office/drawing/2014/main" id="{DF71969E-EB0C-4011-A721-C46857925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06" name="Graphic 157">
              <a:extLst>
                <a:ext uri="{FF2B5EF4-FFF2-40B4-BE49-F238E27FC236}">
                  <a16:creationId xmlns:a16="http://schemas.microsoft.com/office/drawing/2014/main" id="{0C06B9B3-A426-4BDD-BA45-9C5F6A44154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108" name="Freeform: Shape 107">
                <a:extLst>
                  <a:ext uri="{FF2B5EF4-FFF2-40B4-BE49-F238E27FC236}">
                    <a16:creationId xmlns:a16="http://schemas.microsoft.com/office/drawing/2014/main" id="{E8BAA882-64C3-4E36-828C-E2034D999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109" name="Freeform: Shape 108">
                <a:extLst>
                  <a:ext uri="{FF2B5EF4-FFF2-40B4-BE49-F238E27FC236}">
                    <a16:creationId xmlns:a16="http://schemas.microsoft.com/office/drawing/2014/main" id="{8AC94D91-AECE-473B-B00B-F2AAE0EA4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0" name="Freeform: Shape 109">
                <a:extLst>
                  <a:ext uri="{FF2B5EF4-FFF2-40B4-BE49-F238E27FC236}">
                    <a16:creationId xmlns:a16="http://schemas.microsoft.com/office/drawing/2014/main" id="{8ABFBC77-5178-4DAA-93E6-A494D4914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1" name="Freeform: Shape 110">
                <a:extLst>
                  <a:ext uri="{FF2B5EF4-FFF2-40B4-BE49-F238E27FC236}">
                    <a16:creationId xmlns:a16="http://schemas.microsoft.com/office/drawing/2014/main" id="{47E709EC-272C-4F97-BDC8-4B872DEDC6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2" name="Freeform: Shape 111">
                <a:extLst>
                  <a:ext uri="{FF2B5EF4-FFF2-40B4-BE49-F238E27FC236}">
                    <a16:creationId xmlns:a16="http://schemas.microsoft.com/office/drawing/2014/main" id="{27C992B3-ABB9-443C-8748-551626188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3" name="Freeform: Shape 112">
                <a:extLst>
                  <a:ext uri="{FF2B5EF4-FFF2-40B4-BE49-F238E27FC236}">
                    <a16:creationId xmlns:a16="http://schemas.microsoft.com/office/drawing/2014/main" id="{710CC2EE-90B9-45E3-B7E6-C856A199D4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4" name="Freeform: Shape 113">
                <a:extLst>
                  <a:ext uri="{FF2B5EF4-FFF2-40B4-BE49-F238E27FC236}">
                    <a16:creationId xmlns:a16="http://schemas.microsoft.com/office/drawing/2014/main" id="{28272C51-7AB7-4369-A6E9-17958FD30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07" name="Freeform: Shape 106">
              <a:extLst>
                <a:ext uri="{FF2B5EF4-FFF2-40B4-BE49-F238E27FC236}">
                  <a16:creationId xmlns:a16="http://schemas.microsoft.com/office/drawing/2014/main" id="{9B1F31DD-C31E-4C9E-A920-AD354B5CB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A black background with red text">
            <a:extLst>
              <a:ext uri="{FF2B5EF4-FFF2-40B4-BE49-F238E27FC236}">
                <a16:creationId xmlns:a16="http://schemas.microsoft.com/office/drawing/2014/main" id="{DD9F7F92-D62A-7C4D-04C3-FFC3A6D8D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999732"/>
            <a:ext cx="10515600" cy="2444877"/>
          </a:xfrm>
          <a:prstGeom prst="rect">
            <a:avLst/>
          </a:prstGeom>
        </p:spPr>
      </p:pic>
      <p:grpSp>
        <p:nvGrpSpPr>
          <p:cNvPr id="116" name="Top left">
            <a:extLst>
              <a:ext uri="{FF2B5EF4-FFF2-40B4-BE49-F238E27FC236}">
                <a16:creationId xmlns:a16="http://schemas.microsoft.com/office/drawing/2014/main" id="{96BED12B-FE5D-4876-810D-5579D6E85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17" name="Freeform: Shape 116">
              <a:extLst>
                <a:ext uri="{FF2B5EF4-FFF2-40B4-BE49-F238E27FC236}">
                  <a16:creationId xmlns:a16="http://schemas.microsoft.com/office/drawing/2014/main" id="{22EB1789-3A9D-45E9-8CDD-C8063C5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8" name="Freeform: Shape 117">
              <a:extLst>
                <a:ext uri="{FF2B5EF4-FFF2-40B4-BE49-F238E27FC236}">
                  <a16:creationId xmlns:a16="http://schemas.microsoft.com/office/drawing/2014/main" id="{17CA9CCF-CD57-438A-9A90-777CB891C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19" name="Freeform: Shape 118">
              <a:extLst>
                <a:ext uri="{FF2B5EF4-FFF2-40B4-BE49-F238E27FC236}">
                  <a16:creationId xmlns:a16="http://schemas.microsoft.com/office/drawing/2014/main" id="{A0CE73CE-4EED-4313-8396-3E701096DE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20" name="Freeform: Shape 119">
              <a:extLst>
                <a:ext uri="{FF2B5EF4-FFF2-40B4-BE49-F238E27FC236}">
                  <a16:creationId xmlns:a16="http://schemas.microsoft.com/office/drawing/2014/main" id="{680AC3D6-983B-4840-BB53-F3C27CBCB2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21" name="Freeform: Shape 120">
              <a:extLst>
                <a:ext uri="{FF2B5EF4-FFF2-40B4-BE49-F238E27FC236}">
                  <a16:creationId xmlns:a16="http://schemas.microsoft.com/office/drawing/2014/main" id="{F45DFDBC-0EF7-4972-A2FD-5589DCF4D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22" name="Freeform: Shape 121">
              <a:extLst>
                <a:ext uri="{FF2B5EF4-FFF2-40B4-BE49-F238E27FC236}">
                  <a16:creationId xmlns:a16="http://schemas.microsoft.com/office/drawing/2014/main" id="{35F3B204-B3FF-4D3D-A08D-2848E22B0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123" name="Freeform: Shape 122">
              <a:extLst>
                <a:ext uri="{FF2B5EF4-FFF2-40B4-BE49-F238E27FC236}">
                  <a16:creationId xmlns:a16="http://schemas.microsoft.com/office/drawing/2014/main" id="{C5F2879E-E3AA-4758-A22D-0DD2AF771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124" name="Freeform: Shape 123">
              <a:extLst>
                <a:ext uri="{FF2B5EF4-FFF2-40B4-BE49-F238E27FC236}">
                  <a16:creationId xmlns:a16="http://schemas.microsoft.com/office/drawing/2014/main" id="{B110AA5C-CE6D-4F70-9F34-C4E0875F7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10" name="TextBox 9">
            <a:extLst>
              <a:ext uri="{FF2B5EF4-FFF2-40B4-BE49-F238E27FC236}">
                <a16:creationId xmlns:a16="http://schemas.microsoft.com/office/drawing/2014/main" id="{1C7EF0F3-2B98-7795-437E-1131314BC419}"/>
              </a:ext>
            </a:extLst>
          </p:cNvPr>
          <p:cNvSpPr txBox="1"/>
          <p:nvPr/>
        </p:nvSpPr>
        <p:spPr>
          <a:xfrm>
            <a:off x="5619750" y="4084395"/>
            <a:ext cx="6547812" cy="2035130"/>
          </a:xfrm>
          <a:prstGeom prst="rect">
            <a:avLst/>
          </a:prstGeom>
        </p:spPr>
        <p:txBody>
          <a:bodyPr vert="horz" lIns="91440" tIns="45720" rIns="91440" bIns="45720" rtlCol="0" anchor="ctr">
            <a:noAutofit/>
          </a:bodyPr>
          <a:lstStyle/>
          <a:p>
            <a:pPr indent="-228600" defTabSz="914400">
              <a:spcAft>
                <a:spcPts val="600"/>
              </a:spcAft>
              <a:buClr>
                <a:schemeClr val="accent5"/>
              </a:buClr>
              <a:buFont typeface="Avenir Next LT Pro" panose="020B0504020202020204" pitchFamily="34" charset="0"/>
              <a:buChar char="+"/>
            </a:pPr>
            <a:r>
              <a:rPr lang="en-US" sz="1650" b="1" dirty="0">
                <a:solidFill>
                  <a:schemeClr val="tx2"/>
                </a:solidFill>
              </a:rPr>
              <a:t>ENMG 616 – Advanced Optimization Techniques &amp; Algorithms</a:t>
            </a:r>
          </a:p>
          <a:p>
            <a:pPr indent="-228600" defTabSz="914400">
              <a:spcAft>
                <a:spcPts val="600"/>
              </a:spcAft>
              <a:buClr>
                <a:schemeClr val="accent5"/>
              </a:buClr>
              <a:buFont typeface="Avenir Next LT Pro" panose="020B0504020202020204" pitchFamily="34" charset="0"/>
              <a:buChar char="+"/>
            </a:pPr>
            <a:r>
              <a:rPr lang="en-US" sz="1650" b="1" dirty="0">
                <a:solidFill>
                  <a:schemeClr val="tx2"/>
                </a:solidFill>
              </a:rPr>
              <a:t>Research Project: Fairness in Machine Learning </a:t>
            </a:r>
          </a:p>
          <a:p>
            <a:pPr indent="-228600" defTabSz="914400">
              <a:spcAft>
                <a:spcPts val="600"/>
              </a:spcAft>
              <a:buClr>
                <a:schemeClr val="accent5"/>
              </a:buClr>
              <a:buFont typeface="Avenir Next LT Pro" panose="020B0504020202020204" pitchFamily="34" charset="0"/>
              <a:buChar char="+"/>
            </a:pPr>
            <a:endParaRPr lang="en-US" sz="1650" b="1" dirty="0">
              <a:solidFill>
                <a:schemeClr val="tx2"/>
              </a:solidFill>
            </a:endParaRPr>
          </a:p>
          <a:p>
            <a:pPr indent="-228600" defTabSz="914400">
              <a:spcAft>
                <a:spcPts val="600"/>
              </a:spcAft>
              <a:buClr>
                <a:schemeClr val="accent5"/>
              </a:buClr>
              <a:buFont typeface="Avenir Next LT Pro" panose="020B0504020202020204" pitchFamily="34" charset="0"/>
              <a:buChar char="+"/>
            </a:pPr>
            <a:r>
              <a:rPr lang="en-US" sz="1650" b="1" dirty="0">
                <a:solidFill>
                  <a:schemeClr val="tx2"/>
                </a:solidFill>
              </a:rPr>
              <a:t>By – </a:t>
            </a:r>
            <a:r>
              <a:rPr lang="en-US" sz="1650" dirty="0">
                <a:solidFill>
                  <a:schemeClr val="tx2"/>
                </a:solidFill>
              </a:rPr>
              <a:t>Ralph Mouawad – ID 202204667</a:t>
            </a:r>
          </a:p>
          <a:p>
            <a:pPr indent="-228600" defTabSz="914400">
              <a:spcAft>
                <a:spcPts val="600"/>
              </a:spcAft>
              <a:buClr>
                <a:schemeClr val="accent5"/>
              </a:buClr>
              <a:buFont typeface="Avenir Next LT Pro" panose="020B0504020202020204" pitchFamily="34" charset="0"/>
              <a:buChar char="+"/>
            </a:pPr>
            <a:r>
              <a:rPr lang="en-US" sz="1650" b="1" dirty="0">
                <a:solidFill>
                  <a:schemeClr val="tx2"/>
                </a:solidFill>
              </a:rPr>
              <a:t>To – </a:t>
            </a:r>
            <a:r>
              <a:rPr lang="en-US" sz="1650" dirty="0">
                <a:solidFill>
                  <a:schemeClr val="tx2"/>
                </a:solidFill>
              </a:rPr>
              <a:t>Dr. Maher Nouiehed </a:t>
            </a:r>
            <a:endParaRPr lang="en-US" sz="1650" b="1" dirty="0">
              <a:solidFill>
                <a:schemeClr val="tx2"/>
              </a:solidFill>
            </a:endParaRPr>
          </a:p>
        </p:txBody>
      </p:sp>
      <p:sp>
        <p:nvSpPr>
          <p:cNvPr id="6" name="TextBox 5">
            <a:extLst>
              <a:ext uri="{FF2B5EF4-FFF2-40B4-BE49-F238E27FC236}">
                <a16:creationId xmlns:a16="http://schemas.microsoft.com/office/drawing/2014/main" id="{1BECEBF8-F06F-832E-2C2F-79AFE9360724}"/>
              </a:ext>
            </a:extLst>
          </p:cNvPr>
          <p:cNvSpPr txBox="1"/>
          <p:nvPr/>
        </p:nvSpPr>
        <p:spPr>
          <a:xfrm>
            <a:off x="3443591" y="2645923"/>
            <a:ext cx="6371618" cy="36933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954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Freeform: Shape 11">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4" name="Freeform: Shape 13">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6" name="Freeform: Shape 15">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9" name="Freeform: Shape 18">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27"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8" name="Freeform: Shape 27">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6" name="Rectangle 35">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8" name="Rectangle 37">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0" name="Top Left">
            <a:extLst>
              <a:ext uri="{FF2B5EF4-FFF2-40B4-BE49-F238E27FC236}">
                <a16:creationId xmlns:a16="http://schemas.microsoft.com/office/drawing/2014/main" id="{F478807D-D964-4FD1-ADDC-13ADCA84C7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1" name="Freeform: Shape 40">
              <a:extLst>
                <a:ext uri="{FF2B5EF4-FFF2-40B4-BE49-F238E27FC236}">
                  <a16:creationId xmlns:a16="http://schemas.microsoft.com/office/drawing/2014/main" id="{9A9B974A-6D46-4B1E-A578-7FC950F65A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2" name="Freeform: Shape 41">
              <a:extLst>
                <a:ext uri="{FF2B5EF4-FFF2-40B4-BE49-F238E27FC236}">
                  <a16:creationId xmlns:a16="http://schemas.microsoft.com/office/drawing/2014/main" id="{B94ECBDD-53F1-4E3E-935F-AE2F925E5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BB0065AE-42FD-4390-B77A-10CD9C635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2FC1DC9F-A018-40A6-83A2-4E44030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E18F5621-44C3-495A-BFC4-4C0B2D7A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9369DA58-91BE-4846-85BC-48899AC96A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B9CE5473-6DF1-4C49-A489-8DA8871CA7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35EC2B31-6A44-41AE-822B-8B6D7479FF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grpSp>
        <p:nvGrpSpPr>
          <p:cNvPr id="50" name="Bottom Right">
            <a:extLst>
              <a:ext uri="{FF2B5EF4-FFF2-40B4-BE49-F238E27FC236}">
                <a16:creationId xmlns:a16="http://schemas.microsoft.com/office/drawing/2014/main" id="{8BAEE281-C3DD-4DC6-AFC2-A745325191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1" name="Freeform: Shape 50">
              <a:extLst>
                <a:ext uri="{FF2B5EF4-FFF2-40B4-BE49-F238E27FC236}">
                  <a16:creationId xmlns:a16="http://schemas.microsoft.com/office/drawing/2014/main" id="{2A5FE8B5-509D-4E81-ADDD-4B7A6A5196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52" name="Graphic 157">
              <a:extLst>
                <a:ext uri="{FF2B5EF4-FFF2-40B4-BE49-F238E27FC236}">
                  <a16:creationId xmlns:a16="http://schemas.microsoft.com/office/drawing/2014/main" id="{F44E233E-3672-4EB8-9A91-E597F4A673C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4" name="Freeform: Shape 53">
                <a:extLst>
                  <a:ext uri="{FF2B5EF4-FFF2-40B4-BE49-F238E27FC236}">
                    <a16:creationId xmlns:a16="http://schemas.microsoft.com/office/drawing/2014/main" id="{9B21D5AE-5F1F-4C73-AB13-B0035B1629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E0EBFFB2-FF52-4A4B-86C5-D20939768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53759ABD-0D5D-4A90-9296-913955218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195C28B4-CC6B-4089-9E74-93049FAFDA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E065796C-5CD6-4C94-88E7-697C93174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F6696015-E662-4352-A76F-D018CD1B7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2A68CB33-E73E-4301-98E6-20EAD6BAA3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3" name="Freeform: Shape 52">
              <a:extLst>
                <a:ext uri="{FF2B5EF4-FFF2-40B4-BE49-F238E27FC236}">
                  <a16:creationId xmlns:a16="http://schemas.microsoft.com/office/drawing/2014/main" id="{8F84B74D-C5F9-4AB3-9260-852E90E66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 name="Rectangle 4">
            <a:extLst>
              <a:ext uri="{FF2B5EF4-FFF2-40B4-BE49-F238E27FC236}">
                <a16:creationId xmlns:a16="http://schemas.microsoft.com/office/drawing/2014/main" id="{A0C540A2-14A6-EF8B-CE42-FCB95E73116C}"/>
              </a:ext>
            </a:extLst>
          </p:cNvPr>
          <p:cNvSpPr/>
          <p:nvPr/>
        </p:nvSpPr>
        <p:spPr>
          <a:xfrm>
            <a:off x="996275" y="744909"/>
            <a:ext cx="10190071" cy="3145855"/>
          </a:xfrm>
          <a:prstGeom prst="rect">
            <a:avLst/>
          </a:prstGeom>
        </p:spPr>
        <p:txBody>
          <a:bodyPr vert="horz" lIns="91440" tIns="45720" rIns="91440" bIns="45720" rtlCol="0" anchor="b">
            <a:normAutofit/>
            <a:scene3d>
              <a:camera prst="orthographicFront"/>
              <a:lightRig rig="harsh" dir="t"/>
            </a:scene3d>
            <a:sp3d extrusionH="57150" prstMaterial="matte">
              <a:bevelT w="63500" h="12700" prst="angle"/>
              <a:contourClr>
                <a:schemeClr val="bg1">
                  <a:lumMod val="65000"/>
                </a:schemeClr>
              </a:contourClr>
            </a:sp3d>
          </a:bodyPr>
          <a:lstStyle/>
          <a:p>
            <a:pPr algn="ctr" defTabSz="914400">
              <a:lnSpc>
                <a:spcPct val="90000"/>
              </a:lnSpc>
              <a:spcBef>
                <a:spcPct val="0"/>
              </a:spcBef>
              <a:spcAft>
                <a:spcPts val="600"/>
              </a:spcAft>
            </a:pPr>
            <a:r>
              <a:rPr lang="en-US" sz="4600" b="1" kern="1200" cap="none" spc="0">
                <a:ln/>
                <a:solidFill>
                  <a:schemeClr val="tx2"/>
                </a:solidFill>
                <a:effectLst/>
                <a:latin typeface="+mj-lt"/>
                <a:ea typeface="+mj-ea"/>
                <a:cs typeface="+mj-cs"/>
              </a:rPr>
              <a:t>“Fairness Beyond Disparate Treatment and Disparate Impact:</a:t>
            </a:r>
          </a:p>
          <a:p>
            <a:pPr algn="ctr" defTabSz="914400">
              <a:lnSpc>
                <a:spcPct val="90000"/>
              </a:lnSpc>
              <a:spcBef>
                <a:spcPct val="0"/>
              </a:spcBef>
              <a:spcAft>
                <a:spcPts val="600"/>
              </a:spcAft>
            </a:pPr>
            <a:r>
              <a:rPr lang="en-US" sz="4600" b="1" kern="1200">
                <a:ln/>
                <a:solidFill>
                  <a:schemeClr val="tx2"/>
                </a:solidFill>
                <a:latin typeface="+mj-lt"/>
                <a:ea typeface="+mj-ea"/>
                <a:cs typeface="+mj-cs"/>
              </a:rPr>
              <a:t>Learning Classification without Disparate Mistreatment”</a:t>
            </a:r>
            <a:r>
              <a:rPr lang="en-US" sz="4600" b="1" kern="1200" cap="none" spc="0">
                <a:ln/>
                <a:solidFill>
                  <a:schemeClr val="tx2"/>
                </a:solidFill>
                <a:effectLst/>
                <a:latin typeface="+mj-lt"/>
                <a:ea typeface="+mj-ea"/>
                <a:cs typeface="+mj-cs"/>
              </a:rPr>
              <a:t> </a:t>
            </a:r>
            <a:endParaRPr lang="en-US" sz="4600" b="1" kern="1200" cap="none" spc="0" dirty="0">
              <a:ln/>
              <a:solidFill>
                <a:schemeClr val="tx2"/>
              </a:solidFill>
              <a:effectLst/>
              <a:latin typeface="+mj-lt"/>
              <a:ea typeface="+mj-ea"/>
              <a:cs typeface="+mj-cs"/>
            </a:endParaRPr>
          </a:p>
        </p:txBody>
      </p:sp>
      <p:grpSp>
        <p:nvGrpSpPr>
          <p:cNvPr id="62" name="Cross">
            <a:extLst>
              <a:ext uri="{FF2B5EF4-FFF2-40B4-BE49-F238E27FC236}">
                <a16:creationId xmlns:a16="http://schemas.microsoft.com/office/drawing/2014/main" id="{5C0E6139-8A19-4905-87E2-E547D7B7F1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23216" y="3924272"/>
            <a:ext cx="118872" cy="118872"/>
            <a:chOff x="1175347" y="3733800"/>
            <a:chExt cx="118872" cy="118872"/>
          </a:xfrm>
        </p:grpSpPr>
        <p:cxnSp>
          <p:nvCxnSpPr>
            <p:cNvPr id="63" name="Straight Connector 62">
              <a:extLst>
                <a:ext uri="{FF2B5EF4-FFF2-40B4-BE49-F238E27FC236}">
                  <a16:creationId xmlns:a16="http://schemas.microsoft.com/office/drawing/2014/main" id="{BC05FFBD-B86A-4BD3-A147-FA95CE03CF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64" name="Straight Connector 63">
              <a:extLst>
                <a:ext uri="{FF2B5EF4-FFF2-40B4-BE49-F238E27FC236}">
                  <a16:creationId xmlns:a16="http://schemas.microsoft.com/office/drawing/2014/main" id="{EB69F8B1-78FB-4562-8A0D-8D29636755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
        <p:nvSpPr>
          <p:cNvPr id="6" name="TextBox 5">
            <a:extLst>
              <a:ext uri="{FF2B5EF4-FFF2-40B4-BE49-F238E27FC236}">
                <a16:creationId xmlns:a16="http://schemas.microsoft.com/office/drawing/2014/main" id="{4754B78F-883D-5F0C-4A84-3D527295FE2B}"/>
              </a:ext>
            </a:extLst>
          </p:cNvPr>
          <p:cNvSpPr txBox="1"/>
          <p:nvPr/>
        </p:nvSpPr>
        <p:spPr>
          <a:xfrm>
            <a:off x="4327544" y="4156729"/>
            <a:ext cx="3510216" cy="1477328"/>
          </a:xfrm>
          <a:prstGeom prst="rect">
            <a:avLst/>
          </a:prstGeom>
          <a:noFill/>
        </p:spPr>
        <p:txBody>
          <a:bodyPr wrap="square" rtlCol="0">
            <a:spAutoFit/>
          </a:bodyPr>
          <a:lstStyle/>
          <a:p>
            <a:r>
              <a:rPr lang="en-US" i="1" dirty="0"/>
              <a:t>By:</a:t>
            </a:r>
          </a:p>
          <a:p>
            <a:r>
              <a:rPr lang="en-US" i="1" dirty="0"/>
              <a:t>- Muhammad Bilal Zafar</a:t>
            </a:r>
          </a:p>
          <a:p>
            <a:r>
              <a:rPr lang="en-US" i="1" dirty="0"/>
              <a:t>- Isabel Valera </a:t>
            </a:r>
          </a:p>
          <a:p>
            <a:r>
              <a:rPr lang="en-US" i="1" dirty="0"/>
              <a:t>- Manuel Gomez Rodriguez </a:t>
            </a:r>
          </a:p>
          <a:p>
            <a:r>
              <a:rPr lang="en-US" i="1" dirty="0"/>
              <a:t>- Krishna P. Gummadi</a:t>
            </a:r>
          </a:p>
        </p:txBody>
      </p:sp>
    </p:spTree>
    <p:extLst>
      <p:ext uri="{BB962C8B-B14F-4D97-AF65-F5344CB8AC3E}">
        <p14:creationId xmlns:p14="http://schemas.microsoft.com/office/powerpoint/2010/main" val="1636192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8" name="Rectangle 14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0" name="Rectangle 14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2" name="Rectangle 151">
            <a:extLst>
              <a:ext uri="{FF2B5EF4-FFF2-40B4-BE49-F238E27FC236}">
                <a16:creationId xmlns:a16="http://schemas.microsoft.com/office/drawing/2014/main" id="{16E12301-1C96-4D15-9838-D5B894B22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4" name="Picture 143" descr="Abstract blurred public library with bookshelves">
            <a:extLst>
              <a:ext uri="{FF2B5EF4-FFF2-40B4-BE49-F238E27FC236}">
                <a16:creationId xmlns:a16="http://schemas.microsoft.com/office/drawing/2014/main" id="{ADAE6FFF-2D23-E2BF-B309-10093B132B38}"/>
              </a:ext>
            </a:extLst>
          </p:cNvPr>
          <p:cNvPicPr>
            <a:picLocks noChangeAspect="1"/>
          </p:cNvPicPr>
          <p:nvPr/>
        </p:nvPicPr>
        <p:blipFill rotWithShape="1">
          <a:blip r:embed="rId2">
            <a:alphaModFix amt="60000"/>
          </a:blip>
          <a:srcRect t="1308" r="-1" b="14417"/>
          <a:stretch/>
        </p:blipFill>
        <p:spPr>
          <a:xfrm>
            <a:off x="20" y="10"/>
            <a:ext cx="12188932" cy="6856614"/>
          </a:xfrm>
          <a:prstGeom prst="rect">
            <a:avLst/>
          </a:prstGeom>
        </p:spPr>
      </p:pic>
      <p:grpSp>
        <p:nvGrpSpPr>
          <p:cNvPr id="154" name="Top Left">
            <a:extLst>
              <a:ext uri="{FF2B5EF4-FFF2-40B4-BE49-F238E27FC236}">
                <a16:creationId xmlns:a16="http://schemas.microsoft.com/office/drawing/2014/main" id="{D7A5FD75-4B35-4162-9304-5694912558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55" name="Freeform: Shape 154">
              <a:extLst>
                <a:ext uri="{FF2B5EF4-FFF2-40B4-BE49-F238E27FC236}">
                  <a16:creationId xmlns:a16="http://schemas.microsoft.com/office/drawing/2014/main" id="{A5107DF9-40C8-458E-82E1-523137E7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bg2">
                  <a:alpha val="35000"/>
                </a:schemeClr>
              </a:solidFill>
              <a:prstDash val="lgDash"/>
              <a:round/>
            </a:ln>
          </p:spPr>
          <p:txBody>
            <a:bodyPr rtlCol="0" anchor="ctr"/>
            <a:lstStyle/>
            <a:p>
              <a:endParaRPr lang="en-US"/>
            </a:p>
          </p:txBody>
        </p:sp>
        <p:sp>
          <p:nvSpPr>
            <p:cNvPr id="156" name="Freeform: Shape 155">
              <a:extLst>
                <a:ext uri="{FF2B5EF4-FFF2-40B4-BE49-F238E27FC236}">
                  <a16:creationId xmlns:a16="http://schemas.microsoft.com/office/drawing/2014/main" id="{5BD83295-4F37-4B80-AF77-1798FB80C5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bg2">
                  <a:alpha val="35000"/>
                </a:schemeClr>
              </a:solidFill>
              <a:prstDash val="lgDash"/>
              <a:round/>
            </a:ln>
          </p:spPr>
          <p:txBody>
            <a:bodyPr rtlCol="0" anchor="ctr"/>
            <a:lstStyle/>
            <a:p>
              <a:endParaRPr lang="en-US"/>
            </a:p>
          </p:txBody>
        </p:sp>
        <p:sp>
          <p:nvSpPr>
            <p:cNvPr id="157" name="Freeform: Shape 156">
              <a:extLst>
                <a:ext uri="{FF2B5EF4-FFF2-40B4-BE49-F238E27FC236}">
                  <a16:creationId xmlns:a16="http://schemas.microsoft.com/office/drawing/2014/main" id="{65888C74-4F56-4347-8944-E676A3C89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bg2">
                  <a:alpha val="35000"/>
                </a:schemeClr>
              </a:solidFill>
              <a:prstDash val="lgDash"/>
              <a:round/>
            </a:ln>
          </p:spPr>
          <p:txBody>
            <a:bodyPr rtlCol="0" anchor="ctr"/>
            <a:lstStyle/>
            <a:p>
              <a:endParaRPr lang="en-US"/>
            </a:p>
          </p:txBody>
        </p:sp>
        <p:sp>
          <p:nvSpPr>
            <p:cNvPr id="158" name="Freeform: Shape 157">
              <a:extLst>
                <a:ext uri="{FF2B5EF4-FFF2-40B4-BE49-F238E27FC236}">
                  <a16:creationId xmlns:a16="http://schemas.microsoft.com/office/drawing/2014/main" id="{A69429CD-28C1-4DC7-84AD-4421A0AC8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bg2">
                  <a:alpha val="35000"/>
                </a:schemeClr>
              </a:solidFill>
              <a:prstDash val="lgDash"/>
              <a:round/>
            </a:ln>
          </p:spPr>
          <p:txBody>
            <a:bodyPr rtlCol="0" anchor="ctr"/>
            <a:lstStyle/>
            <a:p>
              <a:endParaRPr lang="en-US"/>
            </a:p>
          </p:txBody>
        </p:sp>
        <p:sp>
          <p:nvSpPr>
            <p:cNvPr id="159" name="Freeform: Shape 158">
              <a:extLst>
                <a:ext uri="{FF2B5EF4-FFF2-40B4-BE49-F238E27FC236}">
                  <a16:creationId xmlns:a16="http://schemas.microsoft.com/office/drawing/2014/main" id="{762D63CF-41E9-4561-A945-E199ABE75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bg2">
                  <a:alpha val="35000"/>
                </a:schemeClr>
              </a:solidFill>
              <a:prstDash val="lgDash"/>
              <a:round/>
            </a:ln>
          </p:spPr>
          <p:txBody>
            <a:bodyPr rtlCol="0" anchor="ctr"/>
            <a:lstStyle/>
            <a:p>
              <a:endParaRPr lang="en-US"/>
            </a:p>
          </p:txBody>
        </p:sp>
        <p:sp>
          <p:nvSpPr>
            <p:cNvPr id="160" name="Freeform: Shape 159">
              <a:extLst>
                <a:ext uri="{FF2B5EF4-FFF2-40B4-BE49-F238E27FC236}">
                  <a16:creationId xmlns:a16="http://schemas.microsoft.com/office/drawing/2014/main" id="{0C95C339-F16B-492F-903D-A6855F56E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bg2">
                  <a:alpha val="35000"/>
                </a:schemeClr>
              </a:solidFill>
              <a:prstDash val="lgDash"/>
              <a:round/>
            </a:ln>
          </p:spPr>
          <p:txBody>
            <a:bodyPr rtlCol="0" anchor="ctr"/>
            <a:lstStyle/>
            <a:p>
              <a:endParaRPr lang="en-US"/>
            </a:p>
          </p:txBody>
        </p:sp>
        <p:sp>
          <p:nvSpPr>
            <p:cNvPr id="161" name="Freeform: Shape 160">
              <a:extLst>
                <a:ext uri="{FF2B5EF4-FFF2-40B4-BE49-F238E27FC236}">
                  <a16:creationId xmlns:a16="http://schemas.microsoft.com/office/drawing/2014/main" id="{E85BC65A-0C9A-45A6-B18B-5E020CE98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bg2">
                  <a:alpha val="35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9A43B1A4-EE32-12CB-355D-1C61B6304C7B}"/>
              </a:ext>
            </a:extLst>
          </p:cNvPr>
          <p:cNvSpPr>
            <a:spLocks noGrp="1"/>
          </p:cNvSpPr>
          <p:nvPr>
            <p:ph type="title"/>
          </p:nvPr>
        </p:nvSpPr>
        <p:spPr>
          <a:xfrm>
            <a:off x="1198181" y="726066"/>
            <a:ext cx="4795282" cy="5018227"/>
          </a:xfrm>
        </p:spPr>
        <p:txBody>
          <a:bodyPr vert="horz" lIns="91440" tIns="45720" rIns="91440" bIns="45720" rtlCol="0" anchor="ctr">
            <a:normAutofit/>
          </a:bodyPr>
          <a:lstStyle/>
          <a:p>
            <a:r>
              <a:rPr lang="en-US" kern="1200">
                <a:solidFill>
                  <a:srgbClr val="FFFFFF"/>
                </a:solidFill>
                <a:latin typeface="+mj-lt"/>
                <a:ea typeface="+mj-ea"/>
                <a:cs typeface="+mj-cs"/>
              </a:rPr>
              <a:t>OUTLINE</a:t>
            </a:r>
          </a:p>
        </p:txBody>
      </p:sp>
      <p:grpSp>
        <p:nvGrpSpPr>
          <p:cNvPr id="163" name="Bottom Right">
            <a:extLst>
              <a:ext uri="{FF2B5EF4-FFF2-40B4-BE49-F238E27FC236}">
                <a16:creationId xmlns:a16="http://schemas.microsoft.com/office/drawing/2014/main" id="{34676384-D846-461C-B8F3-BDB849B4A4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164" name="Graphic 157">
              <a:extLst>
                <a:ext uri="{FF2B5EF4-FFF2-40B4-BE49-F238E27FC236}">
                  <a16:creationId xmlns:a16="http://schemas.microsoft.com/office/drawing/2014/main" id="{50480E57-05E0-42B6-8693-191B4E9CF5F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166" name="Freeform: Shape 165">
                <a:extLst>
                  <a:ext uri="{FF2B5EF4-FFF2-40B4-BE49-F238E27FC236}">
                    <a16:creationId xmlns:a16="http://schemas.microsoft.com/office/drawing/2014/main" id="{1C989BD5-54F6-4747-83F1-81FCAEDAD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167" name="Freeform: Shape 166">
                <a:extLst>
                  <a:ext uri="{FF2B5EF4-FFF2-40B4-BE49-F238E27FC236}">
                    <a16:creationId xmlns:a16="http://schemas.microsoft.com/office/drawing/2014/main" id="{6D7EE029-E135-4899-AC49-78D6946CDA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168" name="Freeform: Shape 167">
                <a:extLst>
                  <a:ext uri="{FF2B5EF4-FFF2-40B4-BE49-F238E27FC236}">
                    <a16:creationId xmlns:a16="http://schemas.microsoft.com/office/drawing/2014/main" id="{4C9494D7-A3EA-4A41-8910-6B6FE95E5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169" name="Freeform: Shape 168">
                <a:extLst>
                  <a:ext uri="{FF2B5EF4-FFF2-40B4-BE49-F238E27FC236}">
                    <a16:creationId xmlns:a16="http://schemas.microsoft.com/office/drawing/2014/main" id="{89E7F2B7-DEB2-4B2A-99F9-10622D09E1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170" name="Freeform: Shape 169">
                <a:extLst>
                  <a:ext uri="{FF2B5EF4-FFF2-40B4-BE49-F238E27FC236}">
                    <a16:creationId xmlns:a16="http://schemas.microsoft.com/office/drawing/2014/main" id="{9DACD4DB-BAF5-43DD-8CC8-4200A16D66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171" name="Freeform: Shape 170">
                <a:extLst>
                  <a:ext uri="{FF2B5EF4-FFF2-40B4-BE49-F238E27FC236}">
                    <a16:creationId xmlns:a16="http://schemas.microsoft.com/office/drawing/2014/main" id="{6532D7D7-91B4-4F7C-B38E-5BBD5F3B4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172" name="Freeform: Shape 171">
                <a:extLst>
                  <a:ext uri="{FF2B5EF4-FFF2-40B4-BE49-F238E27FC236}">
                    <a16:creationId xmlns:a16="http://schemas.microsoft.com/office/drawing/2014/main" id="{2B7428A0-A810-46D6-9CC7-2475B2DF6E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165" name="Freeform: Shape 164">
              <a:extLst>
                <a:ext uri="{FF2B5EF4-FFF2-40B4-BE49-F238E27FC236}">
                  <a16:creationId xmlns:a16="http://schemas.microsoft.com/office/drawing/2014/main" id="{9C4A0E07-B9C5-49FB-B94A-B28D740C74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TextBox 7">
            <a:extLst>
              <a:ext uri="{FF2B5EF4-FFF2-40B4-BE49-F238E27FC236}">
                <a16:creationId xmlns:a16="http://schemas.microsoft.com/office/drawing/2014/main" id="{B9D52446-0F16-639D-9092-29D25BD54EF6}"/>
              </a:ext>
            </a:extLst>
          </p:cNvPr>
          <p:cNvSpPr txBox="1"/>
          <p:nvPr/>
        </p:nvSpPr>
        <p:spPr>
          <a:xfrm>
            <a:off x="6195372" y="726538"/>
            <a:ext cx="4977905" cy="5017076"/>
          </a:xfrm>
          <a:prstGeom prst="rect">
            <a:avLst/>
          </a:prstGeom>
        </p:spPr>
        <p:txBody>
          <a:bodyPr vert="horz" lIns="91440" tIns="45720" rIns="91440" bIns="45720" rtlCol="0" anchor="ctr">
            <a:normAutofit/>
          </a:bodyPr>
          <a:lstStyle/>
          <a:p>
            <a:pPr indent="-228600" defTabSz="914400">
              <a:lnSpc>
                <a:spcPct val="110000"/>
              </a:lnSpc>
              <a:spcAft>
                <a:spcPts val="600"/>
              </a:spcAft>
              <a:buClr>
                <a:schemeClr val="accent5"/>
              </a:buClr>
              <a:buFont typeface="Avenir Next LT Pro" panose="020B0504020202020204" pitchFamily="34" charset="0"/>
              <a:buChar char="+"/>
            </a:pPr>
            <a:r>
              <a:rPr lang="en-US">
                <a:solidFill>
                  <a:srgbClr val="FFFFFF"/>
                </a:solidFill>
              </a:rPr>
              <a:t>1- Introduction &amp; Motivation</a:t>
            </a:r>
          </a:p>
          <a:p>
            <a:pPr indent="-228600" defTabSz="914400">
              <a:lnSpc>
                <a:spcPct val="110000"/>
              </a:lnSpc>
              <a:spcAft>
                <a:spcPts val="600"/>
              </a:spcAft>
              <a:buClr>
                <a:schemeClr val="accent5"/>
              </a:buClr>
              <a:buFont typeface="Avenir Next LT Pro" panose="020B0504020202020204" pitchFamily="34" charset="0"/>
              <a:buChar char="+"/>
            </a:pPr>
            <a:endParaRPr lang="en-US">
              <a:solidFill>
                <a:srgbClr val="FFFFFF"/>
              </a:solidFill>
            </a:endParaRPr>
          </a:p>
          <a:p>
            <a:pPr indent="-228600" defTabSz="914400">
              <a:lnSpc>
                <a:spcPct val="110000"/>
              </a:lnSpc>
              <a:spcAft>
                <a:spcPts val="600"/>
              </a:spcAft>
              <a:buClr>
                <a:schemeClr val="accent5"/>
              </a:buClr>
              <a:buFont typeface="Avenir Next LT Pro" panose="020B0504020202020204" pitchFamily="34" charset="0"/>
              <a:buChar char="+"/>
            </a:pPr>
            <a:r>
              <a:rPr lang="en-US">
                <a:solidFill>
                  <a:srgbClr val="FFFFFF"/>
                </a:solidFill>
              </a:rPr>
              <a:t>2- Literature Review</a:t>
            </a:r>
          </a:p>
          <a:p>
            <a:pPr indent="-228600" defTabSz="914400">
              <a:lnSpc>
                <a:spcPct val="110000"/>
              </a:lnSpc>
              <a:spcAft>
                <a:spcPts val="600"/>
              </a:spcAft>
              <a:buClr>
                <a:schemeClr val="accent5"/>
              </a:buClr>
              <a:buFont typeface="Avenir Next LT Pro" panose="020B0504020202020204" pitchFamily="34" charset="0"/>
              <a:buChar char="+"/>
            </a:pPr>
            <a:endParaRPr lang="en-US">
              <a:solidFill>
                <a:srgbClr val="FFFFFF"/>
              </a:solidFill>
            </a:endParaRPr>
          </a:p>
          <a:p>
            <a:pPr indent="-228600" defTabSz="914400">
              <a:lnSpc>
                <a:spcPct val="110000"/>
              </a:lnSpc>
              <a:spcAft>
                <a:spcPts val="600"/>
              </a:spcAft>
              <a:buClr>
                <a:schemeClr val="accent5"/>
              </a:buClr>
              <a:buFont typeface="Avenir Next LT Pro" panose="020B0504020202020204" pitchFamily="34" charset="0"/>
              <a:buChar char="+"/>
            </a:pPr>
            <a:r>
              <a:rPr lang="en-US">
                <a:solidFill>
                  <a:srgbClr val="FFFFFF"/>
                </a:solidFill>
              </a:rPr>
              <a:t>3- Problem Formulation &amp; Methodology</a:t>
            </a:r>
          </a:p>
          <a:p>
            <a:pPr indent="-228600" defTabSz="914400">
              <a:lnSpc>
                <a:spcPct val="110000"/>
              </a:lnSpc>
              <a:spcAft>
                <a:spcPts val="600"/>
              </a:spcAft>
              <a:buClr>
                <a:schemeClr val="accent5"/>
              </a:buClr>
              <a:buFont typeface="Avenir Next LT Pro" panose="020B0504020202020204" pitchFamily="34" charset="0"/>
              <a:buChar char="+"/>
            </a:pPr>
            <a:endParaRPr lang="en-US">
              <a:solidFill>
                <a:srgbClr val="FFFFFF"/>
              </a:solidFill>
            </a:endParaRPr>
          </a:p>
          <a:p>
            <a:pPr indent="-228600" defTabSz="914400">
              <a:lnSpc>
                <a:spcPct val="110000"/>
              </a:lnSpc>
              <a:spcAft>
                <a:spcPts val="600"/>
              </a:spcAft>
              <a:buClr>
                <a:schemeClr val="accent5"/>
              </a:buClr>
              <a:buFont typeface="Avenir Next LT Pro" panose="020B0504020202020204" pitchFamily="34" charset="0"/>
              <a:buChar char="+"/>
            </a:pPr>
            <a:r>
              <a:rPr lang="en-US">
                <a:solidFill>
                  <a:srgbClr val="FFFFFF"/>
                </a:solidFill>
              </a:rPr>
              <a:t>4- Experiments &amp; Results</a:t>
            </a:r>
          </a:p>
          <a:p>
            <a:pPr indent="-228600" defTabSz="914400">
              <a:lnSpc>
                <a:spcPct val="110000"/>
              </a:lnSpc>
              <a:spcAft>
                <a:spcPts val="600"/>
              </a:spcAft>
              <a:buClr>
                <a:schemeClr val="accent5"/>
              </a:buClr>
              <a:buFont typeface="Avenir Next LT Pro" panose="020B0504020202020204" pitchFamily="34" charset="0"/>
              <a:buChar char="+"/>
            </a:pPr>
            <a:endParaRPr lang="en-US">
              <a:solidFill>
                <a:srgbClr val="FFFFFF"/>
              </a:solidFill>
            </a:endParaRPr>
          </a:p>
          <a:p>
            <a:pPr indent="-228600" defTabSz="914400">
              <a:lnSpc>
                <a:spcPct val="110000"/>
              </a:lnSpc>
              <a:spcAft>
                <a:spcPts val="600"/>
              </a:spcAft>
              <a:buClr>
                <a:schemeClr val="accent5"/>
              </a:buClr>
              <a:buFont typeface="Avenir Next LT Pro" panose="020B0504020202020204" pitchFamily="34" charset="0"/>
              <a:buChar char="+"/>
            </a:pPr>
            <a:r>
              <a:rPr lang="en-US">
                <a:solidFill>
                  <a:srgbClr val="FFFFFF"/>
                </a:solidFill>
              </a:rPr>
              <a:t>5- Relation to the Class Material</a:t>
            </a:r>
          </a:p>
        </p:txBody>
      </p:sp>
    </p:spTree>
    <p:extLst>
      <p:ext uri="{BB962C8B-B14F-4D97-AF65-F5344CB8AC3E}">
        <p14:creationId xmlns:p14="http://schemas.microsoft.com/office/powerpoint/2010/main" val="4081526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Top Left">
            <a:extLst>
              <a:ext uri="{FF2B5EF4-FFF2-40B4-BE49-F238E27FC236}">
                <a16:creationId xmlns:a16="http://schemas.microsoft.com/office/drawing/2014/main" id="{05E14710-B20D-424F-9465-E0427970E3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4" name="Freeform: Shape 13">
              <a:extLst>
                <a:ext uri="{FF2B5EF4-FFF2-40B4-BE49-F238E27FC236}">
                  <a16:creationId xmlns:a16="http://schemas.microsoft.com/office/drawing/2014/main" id="{2857F0CF-E215-4235-B086-916830B96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15" name="Freeform: Shape 14">
              <a:extLst>
                <a:ext uri="{FF2B5EF4-FFF2-40B4-BE49-F238E27FC236}">
                  <a16:creationId xmlns:a16="http://schemas.microsoft.com/office/drawing/2014/main" id="{5E06EA72-1DD7-4343-9768-D1089D183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26465186-B0EF-4443-AA37-CD37F259E5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235EA6BD-3484-4D72-8838-3DA1757700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62088E30-E17C-40A3-876F-C79A7BDFE6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7A3A6DD2-FE8F-4861-81EA-E1A5BB6B5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9E9FFAA5-21C1-4B65-9DA9-24DFCC45C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4FECE28E-7EEC-4B45-B573-BCAE111FC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29FE299D-BDFB-2F8C-B3BC-20BB12A3A7F4}"/>
              </a:ext>
            </a:extLst>
          </p:cNvPr>
          <p:cNvSpPr>
            <a:spLocks noGrp="1"/>
          </p:cNvSpPr>
          <p:nvPr>
            <p:ph type="title"/>
          </p:nvPr>
        </p:nvSpPr>
        <p:spPr>
          <a:xfrm>
            <a:off x="1198181" y="559813"/>
            <a:ext cx="9988166" cy="1664573"/>
          </a:xfrm>
        </p:spPr>
        <p:txBody>
          <a:bodyPr vert="horz" lIns="91440" tIns="45720" rIns="91440" bIns="45720" rtlCol="0" anchor="ctr">
            <a:normAutofit/>
          </a:bodyPr>
          <a:lstStyle/>
          <a:p>
            <a:pPr algn="ctr"/>
            <a:r>
              <a:rPr lang="en-US" kern="1200">
                <a:solidFill>
                  <a:schemeClr val="tx2"/>
                </a:solidFill>
                <a:latin typeface="+mj-lt"/>
                <a:ea typeface="+mj-ea"/>
                <a:cs typeface="+mj-cs"/>
              </a:rPr>
              <a:t>1- Introduction &amp; Motivation </a:t>
            </a:r>
          </a:p>
        </p:txBody>
      </p:sp>
      <p:grpSp>
        <p:nvGrpSpPr>
          <p:cNvPr id="23" name="Bottom Right">
            <a:extLst>
              <a:ext uri="{FF2B5EF4-FFF2-40B4-BE49-F238E27FC236}">
                <a16:creationId xmlns:a16="http://schemas.microsoft.com/office/drawing/2014/main" id="{33E292A1-440C-41B6-AECE-499683C5C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4" name="Freeform: Shape 23">
              <a:extLst>
                <a:ext uri="{FF2B5EF4-FFF2-40B4-BE49-F238E27FC236}">
                  <a16:creationId xmlns:a16="http://schemas.microsoft.com/office/drawing/2014/main" id="{336D22F2-5BE5-4299-B3C4-06B3823F9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25" name="Graphic 157">
              <a:extLst>
                <a:ext uri="{FF2B5EF4-FFF2-40B4-BE49-F238E27FC236}">
                  <a16:creationId xmlns:a16="http://schemas.microsoft.com/office/drawing/2014/main" id="{D126EE8D-7318-40DC-AE0F-120FD040C8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7" name="Freeform: Shape 26">
                <a:extLst>
                  <a:ext uri="{FF2B5EF4-FFF2-40B4-BE49-F238E27FC236}">
                    <a16:creationId xmlns:a16="http://schemas.microsoft.com/office/drawing/2014/main" id="{CBE7795C-A860-4C9B-BC23-1FBEDEBE5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F569E8A3-064F-490D-A574-DE37DCF5D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1F5D334B-EA10-488A-ACEF-359FC7313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671E9F15-20FF-466A-8976-CB9AEDC36C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3F6396EF-4FA3-4C64-A4AB-AAFD68045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97498B4E-B548-4846-A943-8C077647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15E991F3-4EDE-4EF1-A611-12F3BCB02A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6" name="Freeform: Shape 25">
              <a:extLst>
                <a:ext uri="{FF2B5EF4-FFF2-40B4-BE49-F238E27FC236}">
                  <a16:creationId xmlns:a16="http://schemas.microsoft.com/office/drawing/2014/main" id="{62FCF0CC-5B63-496D-B9A8-AF0233757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TextBox 3">
            <a:extLst>
              <a:ext uri="{FF2B5EF4-FFF2-40B4-BE49-F238E27FC236}">
                <a16:creationId xmlns:a16="http://schemas.microsoft.com/office/drawing/2014/main" id="{242141BC-F59F-37B2-823F-4D7FF9B9E17C}"/>
              </a:ext>
            </a:extLst>
          </p:cNvPr>
          <p:cNvSpPr txBox="1"/>
          <p:nvPr/>
        </p:nvSpPr>
        <p:spPr>
          <a:xfrm>
            <a:off x="1185754" y="2384474"/>
            <a:ext cx="9987523" cy="3728613"/>
          </a:xfrm>
          <a:prstGeom prst="rect">
            <a:avLst/>
          </a:prstGeom>
        </p:spPr>
        <p:txBody>
          <a:bodyPr vert="horz" lIns="91440" tIns="45720" rIns="91440" bIns="45720" rtlCol="0">
            <a:normAutofit/>
          </a:bodyPr>
          <a:lstStyle/>
          <a:p>
            <a:pPr indent="-228600" defTabSz="914400">
              <a:spcAft>
                <a:spcPts val="600"/>
              </a:spcAft>
              <a:buClr>
                <a:schemeClr val="accent5"/>
              </a:buClr>
              <a:buFont typeface="Avenir Next LT Pro" panose="020B0504020202020204" pitchFamily="34" charset="0"/>
              <a:buChar char="+"/>
            </a:pPr>
            <a:r>
              <a:rPr lang="en-US" sz="1500" dirty="0">
                <a:solidFill>
                  <a:schemeClr val="tx2"/>
                </a:solidFill>
              </a:rPr>
              <a:t>- Huge increase in Automated data-driven decision systems </a:t>
            </a:r>
          </a:p>
          <a:p>
            <a:pPr indent="-228600" defTabSz="914400">
              <a:spcAft>
                <a:spcPts val="600"/>
              </a:spcAft>
              <a:buClr>
                <a:schemeClr val="accent5"/>
              </a:buClr>
              <a:buFont typeface="Avenir Next LT Pro" panose="020B0504020202020204" pitchFamily="34" charset="0"/>
              <a:buChar char="+"/>
            </a:pPr>
            <a:endParaRPr lang="en-US" sz="1500" dirty="0">
              <a:solidFill>
                <a:schemeClr val="tx2"/>
              </a:solidFill>
            </a:endParaRPr>
          </a:p>
          <a:p>
            <a:pPr indent="-228600" defTabSz="914400">
              <a:spcAft>
                <a:spcPts val="600"/>
              </a:spcAft>
              <a:buClr>
                <a:schemeClr val="accent5"/>
              </a:buClr>
              <a:buFont typeface="Avenir Next LT Pro" panose="020B0504020202020204" pitchFamily="34" charset="0"/>
              <a:buChar char="+"/>
            </a:pPr>
            <a:r>
              <a:rPr lang="en-US" sz="1500" dirty="0">
                <a:solidFill>
                  <a:schemeClr val="tx2"/>
                </a:solidFill>
              </a:rPr>
              <a:t>- Concerns about unfairness towards groups of people with sensitive attributes such as gender or race. </a:t>
            </a:r>
          </a:p>
          <a:p>
            <a:pPr indent="-228600" defTabSz="914400">
              <a:spcAft>
                <a:spcPts val="600"/>
              </a:spcAft>
              <a:buClr>
                <a:schemeClr val="accent5"/>
              </a:buClr>
              <a:buFont typeface="Avenir Next LT Pro" panose="020B0504020202020204" pitchFamily="34" charset="0"/>
              <a:buChar char="+"/>
            </a:pPr>
            <a:endParaRPr lang="en-US" sz="1500" dirty="0">
              <a:solidFill>
                <a:schemeClr val="tx2"/>
              </a:solidFill>
            </a:endParaRPr>
          </a:p>
          <a:p>
            <a:pPr indent="-228600" defTabSz="914400">
              <a:spcAft>
                <a:spcPts val="600"/>
              </a:spcAft>
              <a:buClr>
                <a:schemeClr val="accent5"/>
              </a:buClr>
              <a:buFont typeface="Avenir Next LT Pro" panose="020B0504020202020204" pitchFamily="34" charset="0"/>
              <a:buChar char="+"/>
            </a:pPr>
            <a:r>
              <a:rPr lang="en-US" sz="1500" dirty="0">
                <a:solidFill>
                  <a:schemeClr val="tx2"/>
                </a:solidFill>
              </a:rPr>
              <a:t>- Several laws tackled Disparate Treatment &amp; Disparate Impact, when ground truth is not provided. </a:t>
            </a:r>
          </a:p>
          <a:p>
            <a:pPr indent="-228600" defTabSz="914400">
              <a:spcAft>
                <a:spcPts val="600"/>
              </a:spcAft>
              <a:buClr>
                <a:schemeClr val="accent5"/>
              </a:buClr>
              <a:buFont typeface="Avenir Next LT Pro" panose="020B0504020202020204" pitchFamily="34" charset="0"/>
              <a:buChar char="+"/>
            </a:pPr>
            <a:endParaRPr lang="en-US" sz="1500" dirty="0">
              <a:solidFill>
                <a:schemeClr val="tx2"/>
              </a:solidFill>
            </a:endParaRPr>
          </a:p>
          <a:p>
            <a:pPr indent="-228600" defTabSz="914400">
              <a:spcAft>
                <a:spcPts val="600"/>
              </a:spcAft>
              <a:buClr>
                <a:schemeClr val="accent5"/>
              </a:buClr>
              <a:buFont typeface="Avenir Next LT Pro" panose="020B0504020202020204" pitchFamily="34" charset="0"/>
              <a:buChar char="+"/>
            </a:pPr>
            <a:r>
              <a:rPr lang="en-US" sz="1500" dirty="0">
                <a:solidFill>
                  <a:schemeClr val="tx2"/>
                </a:solidFill>
              </a:rPr>
              <a:t>- If the ground truth is provided, we can find that sometimes a certain group of people should receive different decisions. </a:t>
            </a:r>
          </a:p>
          <a:p>
            <a:pPr indent="-228600" defTabSz="914400">
              <a:spcAft>
                <a:spcPts val="600"/>
              </a:spcAft>
              <a:buClr>
                <a:schemeClr val="accent5"/>
              </a:buClr>
              <a:buFont typeface="Avenir Next LT Pro" panose="020B0504020202020204" pitchFamily="34" charset="0"/>
              <a:buChar char="+"/>
            </a:pPr>
            <a:endParaRPr lang="en-US" sz="1500" dirty="0">
              <a:solidFill>
                <a:schemeClr val="tx2"/>
              </a:solidFill>
            </a:endParaRPr>
          </a:p>
          <a:p>
            <a:pPr indent="-228600" defTabSz="914400">
              <a:spcAft>
                <a:spcPts val="600"/>
              </a:spcAft>
              <a:buClr>
                <a:schemeClr val="accent5"/>
              </a:buClr>
              <a:buFont typeface="Avenir Next LT Pro" panose="020B0504020202020204" pitchFamily="34" charset="0"/>
              <a:buChar char="+"/>
            </a:pPr>
            <a:endParaRPr lang="en-US" sz="1500" dirty="0">
              <a:solidFill>
                <a:schemeClr val="tx2"/>
              </a:solidFill>
            </a:endParaRPr>
          </a:p>
          <a:p>
            <a:pPr indent="-228600" defTabSz="914400">
              <a:spcAft>
                <a:spcPts val="600"/>
              </a:spcAft>
              <a:buClr>
                <a:schemeClr val="accent5"/>
              </a:buClr>
              <a:buFont typeface="Avenir Next LT Pro" panose="020B0504020202020204" pitchFamily="34" charset="0"/>
              <a:buChar char="+"/>
            </a:pPr>
            <a:endParaRPr lang="en-US" sz="1500" dirty="0">
              <a:solidFill>
                <a:schemeClr val="tx2"/>
              </a:solidFill>
            </a:endParaRPr>
          </a:p>
          <a:p>
            <a:pPr indent="-228600" defTabSz="914400">
              <a:spcAft>
                <a:spcPts val="600"/>
              </a:spcAft>
              <a:buClr>
                <a:schemeClr val="accent5"/>
              </a:buClr>
              <a:buFont typeface="Avenir Next LT Pro" panose="020B0504020202020204" pitchFamily="34" charset="0"/>
              <a:buChar char="+"/>
            </a:pPr>
            <a:r>
              <a:rPr lang="en-US" sz="1500" b="1" dirty="0">
                <a:solidFill>
                  <a:schemeClr val="tx2"/>
                </a:solidFill>
                <a:sym typeface="Wingdings" panose="05000000000000000000" pitchFamily="2" charset="2"/>
              </a:rPr>
              <a:t> DISPARATE MISTREATMENT is introduced</a:t>
            </a:r>
            <a:endParaRPr lang="en-US" sz="1500" b="1" dirty="0">
              <a:solidFill>
                <a:schemeClr val="tx2"/>
              </a:solidFill>
            </a:endParaRPr>
          </a:p>
        </p:txBody>
      </p:sp>
    </p:spTree>
    <p:extLst>
      <p:ext uri="{BB962C8B-B14F-4D97-AF65-F5344CB8AC3E}">
        <p14:creationId xmlns:p14="http://schemas.microsoft.com/office/powerpoint/2010/main" val="317708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AB572A-CF5A-D060-25FF-E551AF5A8B89}"/>
              </a:ext>
            </a:extLst>
          </p:cNvPr>
          <p:cNvSpPr txBox="1"/>
          <p:nvPr/>
        </p:nvSpPr>
        <p:spPr>
          <a:xfrm>
            <a:off x="1847850" y="1238250"/>
            <a:ext cx="9410699" cy="4247317"/>
          </a:xfrm>
          <a:prstGeom prst="rect">
            <a:avLst/>
          </a:prstGeom>
          <a:noFill/>
        </p:spPr>
        <p:txBody>
          <a:bodyPr wrap="square" rtlCol="0">
            <a:spAutoFit/>
          </a:bodyPr>
          <a:lstStyle/>
          <a:p>
            <a:r>
              <a:rPr lang="en-US" b="1"/>
              <a:t>Definitions:</a:t>
            </a:r>
          </a:p>
          <a:p>
            <a:endParaRPr lang="en-US" b="1"/>
          </a:p>
          <a:p>
            <a:r>
              <a:rPr lang="en-US" b="1"/>
              <a:t>- Disparate Treatment: </a:t>
            </a:r>
            <a:r>
              <a:rPr lang="en-US"/>
              <a:t>When a decision-making system assigns different classifications to groups of people with the same non-sensitive attributes but differing sensitive attributes, it exhibits Disparate Treatment.</a:t>
            </a:r>
          </a:p>
          <a:p>
            <a:endParaRPr lang="en-US"/>
          </a:p>
          <a:p>
            <a:r>
              <a:rPr lang="en-US"/>
              <a:t>- </a:t>
            </a:r>
            <a:r>
              <a:rPr lang="en-US" b="1"/>
              <a:t>Disparate Impact: </a:t>
            </a:r>
            <a:r>
              <a:rPr lang="en-US"/>
              <a:t>This form of unfairness occurs when a decision-making system</a:t>
            </a:r>
          </a:p>
          <a:p>
            <a:r>
              <a:rPr lang="en-US"/>
              <a:t>consistently produces outcomes that disproportionately favor or disadvantage a specific</a:t>
            </a:r>
          </a:p>
          <a:p>
            <a:r>
              <a:rPr lang="en-US"/>
              <a:t>group of individuals sharing a common sensitive attribute value, more frequently than</a:t>
            </a:r>
          </a:p>
          <a:p>
            <a:r>
              <a:rPr lang="en-US"/>
              <a:t>other groups</a:t>
            </a:r>
          </a:p>
          <a:p>
            <a:endParaRPr lang="en-US"/>
          </a:p>
          <a:p>
            <a:r>
              <a:rPr lang="en-US" b="1"/>
              <a:t>- Disparate Mistreatment: </a:t>
            </a:r>
            <a:r>
              <a:rPr lang="en-US"/>
              <a:t>A decision-making system is labeled as experiencing Disparate Mistreatment when the misclassification rate for a group of individuals with the same value of a sensitive attribute differs from another group with a different value of that sensitive attribute.</a:t>
            </a:r>
            <a:endParaRPr lang="en-US" dirty="0"/>
          </a:p>
        </p:txBody>
      </p:sp>
    </p:spTree>
    <p:extLst>
      <p:ext uri="{BB962C8B-B14F-4D97-AF65-F5344CB8AC3E}">
        <p14:creationId xmlns:p14="http://schemas.microsoft.com/office/powerpoint/2010/main" val="2026029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6" name="Picture 5" descr="A table with numbers and symbols&#10;&#10;Description automatically generated with medium confidence">
            <a:extLst>
              <a:ext uri="{FF2B5EF4-FFF2-40B4-BE49-F238E27FC236}">
                <a16:creationId xmlns:a16="http://schemas.microsoft.com/office/drawing/2014/main" id="{DC909662-7427-966F-A0B7-69EDB77C4E96}"/>
              </a:ext>
            </a:extLst>
          </p:cNvPr>
          <p:cNvPicPr>
            <a:picLocks noChangeAspect="1"/>
          </p:cNvPicPr>
          <p:nvPr/>
        </p:nvPicPr>
        <p:blipFill>
          <a:blip r:embed="rId2"/>
          <a:stretch>
            <a:fillRect/>
          </a:stretch>
        </p:blipFill>
        <p:spPr>
          <a:xfrm>
            <a:off x="4982366" y="15178"/>
            <a:ext cx="7408777" cy="6872876"/>
          </a:xfrm>
          <a:prstGeom prst="rect">
            <a:avLst/>
          </a:prstGeom>
        </p:spPr>
      </p:pic>
      <p:grpSp>
        <p:nvGrpSpPr>
          <p:cNvPr id="15" name="Top left">
            <a:extLst>
              <a:ext uri="{FF2B5EF4-FFF2-40B4-BE49-F238E27FC236}">
                <a16:creationId xmlns:a16="http://schemas.microsoft.com/office/drawing/2014/main" id="{49EBBDF7-403B-404C-AE65-6529C47977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6" name="Freeform: Shape 15">
              <a:extLst>
                <a:ext uri="{FF2B5EF4-FFF2-40B4-BE49-F238E27FC236}">
                  <a16:creationId xmlns:a16="http://schemas.microsoft.com/office/drawing/2014/main" id="{B45E4DDE-DABB-4541-B044-FC38949E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Freeform: Shape 16">
              <a:extLst>
                <a:ext uri="{FF2B5EF4-FFF2-40B4-BE49-F238E27FC236}">
                  <a16:creationId xmlns:a16="http://schemas.microsoft.com/office/drawing/2014/main" id="{22D357AD-5163-45F3-A5C7-FD3351A90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8886A53D-82B1-4C65-9DED-59358265BC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B6200E88-1288-40E7-9A66-D513E6CA5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CB4E4D96-95D8-43F4-90B2-25AC6F6A0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6951A656-8684-49D3-8C63-5513CD7BF0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248A156-06F4-42AE-871D-4535FF097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01FD1AA9-14F8-45A8-88C0-28DC94ED4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25" name="Bottom Right">
            <a:extLst>
              <a:ext uri="{FF2B5EF4-FFF2-40B4-BE49-F238E27FC236}">
                <a16:creationId xmlns:a16="http://schemas.microsoft.com/office/drawing/2014/main" id="{1C0BEBF8-7FFB-422A-98F0-90FF9E7F3C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6" name="Freeform: Shape 25">
              <a:extLst>
                <a:ext uri="{FF2B5EF4-FFF2-40B4-BE49-F238E27FC236}">
                  <a16:creationId xmlns:a16="http://schemas.microsoft.com/office/drawing/2014/main" id="{F1B94AB3-A0D6-4DB5-9006-C7F2ABD8A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7" name="Graphic 157">
              <a:extLst>
                <a:ext uri="{FF2B5EF4-FFF2-40B4-BE49-F238E27FC236}">
                  <a16:creationId xmlns:a16="http://schemas.microsoft.com/office/drawing/2014/main" id="{C59F5611-23BC-435A-A5C0-D4DD8912772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9" name="Freeform: Shape 28">
                <a:extLst>
                  <a:ext uri="{FF2B5EF4-FFF2-40B4-BE49-F238E27FC236}">
                    <a16:creationId xmlns:a16="http://schemas.microsoft.com/office/drawing/2014/main" id="{713287DA-BE38-4656-B32C-F10B005F0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FBBFD07E-A2BD-4A54-B194-B784DF265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719B4517-9BB8-4C32-B87D-F5E8CD477E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EBA9DD75-9D79-4D26-8A36-B5D9BBA74F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B4EFBFDC-6A43-4413-AC75-13861B0D4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7236E5D8-45CC-41FA-A68C-608422971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24BED8DA-C8A2-4323-A230-5D354066C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8" name="Freeform: Shape 27">
              <a:extLst>
                <a:ext uri="{FF2B5EF4-FFF2-40B4-BE49-F238E27FC236}">
                  <a16:creationId xmlns:a16="http://schemas.microsoft.com/office/drawing/2014/main" id="{AA700AC1-CD4C-4962-B47B-92CDE218AB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TextBox 3">
            <a:extLst>
              <a:ext uri="{FF2B5EF4-FFF2-40B4-BE49-F238E27FC236}">
                <a16:creationId xmlns:a16="http://schemas.microsoft.com/office/drawing/2014/main" id="{352B4146-C58C-5712-7295-504BEFB1ACFC}"/>
              </a:ext>
            </a:extLst>
          </p:cNvPr>
          <p:cNvSpPr txBox="1"/>
          <p:nvPr/>
        </p:nvSpPr>
        <p:spPr>
          <a:xfrm>
            <a:off x="168264" y="2241252"/>
            <a:ext cx="4814102" cy="3728613"/>
          </a:xfrm>
          <a:prstGeom prst="rect">
            <a:avLst/>
          </a:prstGeom>
        </p:spPr>
        <p:txBody>
          <a:bodyPr vert="horz" lIns="91440" tIns="45720" rIns="91440" bIns="45720" rtlCol="0">
            <a:normAutofit/>
          </a:bodyPr>
          <a:lstStyle/>
          <a:p>
            <a:pPr indent="-228600" defTabSz="914400">
              <a:lnSpc>
                <a:spcPct val="110000"/>
              </a:lnSpc>
              <a:spcAft>
                <a:spcPts val="600"/>
              </a:spcAft>
              <a:buClr>
                <a:schemeClr val="accent5"/>
              </a:buClr>
              <a:buFont typeface="Avenir Next LT Pro" panose="020B0504020202020204" pitchFamily="34" charset="0"/>
              <a:buChar char="+"/>
            </a:pPr>
            <a:r>
              <a:rPr lang="en-US" dirty="0">
                <a:solidFill>
                  <a:schemeClr val="tx2"/>
                </a:solidFill>
              </a:rPr>
              <a:t>Example: </a:t>
            </a:r>
          </a:p>
          <a:p>
            <a:pPr indent="-228600" defTabSz="914400">
              <a:lnSpc>
                <a:spcPct val="110000"/>
              </a:lnSpc>
              <a:spcAft>
                <a:spcPts val="600"/>
              </a:spcAft>
              <a:buClr>
                <a:schemeClr val="accent5"/>
              </a:buClr>
              <a:buFont typeface="Avenir Next LT Pro" panose="020B0504020202020204" pitchFamily="34" charset="0"/>
              <a:buChar char="+"/>
            </a:pPr>
            <a:endParaRPr lang="en-US" dirty="0">
              <a:solidFill>
                <a:schemeClr val="tx2"/>
              </a:solidFill>
            </a:endParaRPr>
          </a:p>
          <a:p>
            <a:pPr indent="-228600" defTabSz="914400">
              <a:lnSpc>
                <a:spcPct val="110000"/>
              </a:lnSpc>
              <a:spcAft>
                <a:spcPts val="600"/>
              </a:spcAft>
              <a:buClr>
                <a:schemeClr val="accent5"/>
              </a:buClr>
              <a:buFont typeface="Avenir Next LT Pro" panose="020B0504020202020204" pitchFamily="34" charset="0"/>
              <a:buChar char="+"/>
            </a:pPr>
            <a:r>
              <a:rPr lang="en-US" b="0" i="0" dirty="0">
                <a:solidFill>
                  <a:schemeClr val="tx2"/>
                </a:solidFill>
                <a:effectLst/>
              </a:rPr>
              <a:t> We have 3 classifiers that will decide whether or not to stop pedestrians because they think they might have weapons. We have one sensitive attribute that is Gender, and two non sensitive attributes, Clothing Bulge and Proximity to a crime scene.</a:t>
            </a:r>
            <a:endParaRPr lang="en-US" dirty="0">
              <a:solidFill>
                <a:schemeClr val="tx2"/>
              </a:solidFill>
            </a:endParaRPr>
          </a:p>
        </p:txBody>
      </p:sp>
    </p:spTree>
    <p:extLst>
      <p:ext uri="{BB962C8B-B14F-4D97-AF65-F5344CB8AC3E}">
        <p14:creationId xmlns:p14="http://schemas.microsoft.com/office/powerpoint/2010/main" val="1616332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2" name="Top Left">
            <a:extLst>
              <a:ext uri="{FF2B5EF4-FFF2-40B4-BE49-F238E27FC236}">
                <a16:creationId xmlns:a16="http://schemas.microsoft.com/office/drawing/2014/main" id="{7A38728C-77BC-4E70-B960-689E1056EA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3" name="Freeform: Shape 12">
              <a:extLst>
                <a:ext uri="{FF2B5EF4-FFF2-40B4-BE49-F238E27FC236}">
                  <a16:creationId xmlns:a16="http://schemas.microsoft.com/office/drawing/2014/main" id="{E77F1990-5FF8-435F-AEA0-EEADAC8AE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14" name="Freeform: Shape 13">
              <a:extLst>
                <a:ext uri="{FF2B5EF4-FFF2-40B4-BE49-F238E27FC236}">
                  <a16:creationId xmlns:a16="http://schemas.microsoft.com/office/drawing/2014/main" id="{464785CE-2256-40E9-994A-5009BA3397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2ADB3A37-A8CF-4A83-9557-BCF0AE4592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C000F1EE-A903-4DF1-B7F4-7839D1C433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643B1BFC-D490-4EED-BCBD-CACB6CE5D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BA0E29B4-595E-470E-B39E-AC8160BB4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F7EDEB06-3957-4677-9B94-A5AA52A93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F04747DD-3DAB-443F-B3DD-D573484D9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B1EFD607-3CA7-8B15-7AEF-88129D4215AD}"/>
              </a:ext>
            </a:extLst>
          </p:cNvPr>
          <p:cNvSpPr>
            <a:spLocks noGrp="1"/>
          </p:cNvSpPr>
          <p:nvPr>
            <p:ph type="title"/>
          </p:nvPr>
        </p:nvSpPr>
        <p:spPr>
          <a:xfrm>
            <a:off x="1198181" y="559813"/>
            <a:ext cx="4811517" cy="5577934"/>
          </a:xfrm>
        </p:spPr>
        <p:txBody>
          <a:bodyPr>
            <a:normAutofit/>
          </a:bodyPr>
          <a:lstStyle/>
          <a:p>
            <a:r>
              <a:rPr lang="en-US" dirty="0"/>
              <a:t>2- Literature Review</a:t>
            </a:r>
          </a:p>
        </p:txBody>
      </p:sp>
      <p:grpSp>
        <p:nvGrpSpPr>
          <p:cNvPr id="22" name="Bottom Right">
            <a:extLst>
              <a:ext uri="{FF2B5EF4-FFF2-40B4-BE49-F238E27FC236}">
                <a16:creationId xmlns:a16="http://schemas.microsoft.com/office/drawing/2014/main" id="{79F18033-1460-4018-A612-7791A59443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3" name="Freeform: Shape 22">
              <a:extLst>
                <a:ext uri="{FF2B5EF4-FFF2-40B4-BE49-F238E27FC236}">
                  <a16:creationId xmlns:a16="http://schemas.microsoft.com/office/drawing/2014/main" id="{0DA575E3-8440-4D3D-ADE6-306C68A40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24" name="Graphic 157">
              <a:extLst>
                <a:ext uri="{FF2B5EF4-FFF2-40B4-BE49-F238E27FC236}">
                  <a16:creationId xmlns:a16="http://schemas.microsoft.com/office/drawing/2014/main" id="{97C091F6-0ACA-47D7-AD10-B0A6434C8FE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6" name="Freeform: Shape 25">
                <a:extLst>
                  <a:ext uri="{FF2B5EF4-FFF2-40B4-BE49-F238E27FC236}">
                    <a16:creationId xmlns:a16="http://schemas.microsoft.com/office/drawing/2014/main" id="{C22CAA67-B5DC-4FC5-8F63-07975585B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1F0D0EED-0A88-4489-92EA-6BDE581E1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D1FA96F0-4E1A-4485-8096-5825381C0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A36D099C-F03A-4E04-90B8-1113710FC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6BDC2E18-6FEE-460E-B3F5-AE9699B67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31BC359D-4AD5-412F-BFD8-9BC2FDFA7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7352F9A6-591C-49FF-BA68-8BCA6FC49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5" name="Freeform: Shape 24">
              <a:extLst>
                <a:ext uri="{FF2B5EF4-FFF2-40B4-BE49-F238E27FC236}">
                  <a16:creationId xmlns:a16="http://schemas.microsoft.com/office/drawing/2014/main" id="{12FD30F0-A1E2-4FFC-BF98-2BF2C14B9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195E843B-BB06-FC6C-B2F4-C7B84081F8A2}"/>
              </a:ext>
            </a:extLst>
          </p:cNvPr>
          <p:cNvSpPr>
            <a:spLocks noGrp="1"/>
          </p:cNvSpPr>
          <p:nvPr>
            <p:ph idx="1"/>
          </p:nvPr>
        </p:nvSpPr>
        <p:spPr>
          <a:xfrm>
            <a:off x="6189134" y="716366"/>
            <a:ext cx="4984143" cy="5396722"/>
          </a:xfrm>
        </p:spPr>
        <p:txBody>
          <a:bodyPr>
            <a:normAutofit/>
          </a:bodyPr>
          <a:lstStyle/>
          <a:p>
            <a:pPr marL="0" indent="0">
              <a:lnSpc>
                <a:spcPct val="100000"/>
              </a:lnSpc>
              <a:buNone/>
            </a:pPr>
            <a:r>
              <a:rPr lang="en-US" sz="1700" dirty="0"/>
              <a:t>- Many Studies only tackle Disparate Treatment &amp; Impact</a:t>
            </a:r>
          </a:p>
          <a:p>
            <a:pPr marL="0" indent="0">
              <a:lnSpc>
                <a:spcPct val="100000"/>
              </a:lnSpc>
              <a:buNone/>
            </a:pPr>
            <a:endParaRPr lang="en-US" sz="1700" dirty="0"/>
          </a:p>
          <a:p>
            <a:pPr marL="0" indent="0">
              <a:lnSpc>
                <a:spcPct val="100000"/>
              </a:lnSpc>
              <a:buNone/>
            </a:pPr>
            <a:r>
              <a:rPr lang="en-US" sz="1700" dirty="0"/>
              <a:t>- Goel et al: Raised awareness about unfairness towards black people regarding racial disparities in the detection of weapons with civilians.</a:t>
            </a:r>
          </a:p>
          <a:p>
            <a:pPr marL="0" indent="0">
              <a:lnSpc>
                <a:spcPct val="100000"/>
              </a:lnSpc>
              <a:buNone/>
            </a:pPr>
            <a:endParaRPr lang="en-US" sz="1700" dirty="0"/>
          </a:p>
          <a:p>
            <a:pPr marL="0" indent="0">
              <a:lnSpc>
                <a:spcPct val="100000"/>
              </a:lnSpc>
              <a:buNone/>
            </a:pPr>
            <a:r>
              <a:rPr lang="en-US" sz="1700" dirty="0"/>
              <a:t>- Hardt et al: tackle disparate mistreatment: Ad-</a:t>
            </a:r>
          </a:p>
          <a:p>
            <a:pPr marL="0" indent="0">
              <a:lnSpc>
                <a:spcPct val="100000"/>
              </a:lnSpc>
              <a:buNone/>
            </a:pPr>
            <a:r>
              <a:rPr lang="en-US" sz="1700" dirty="0"/>
              <a:t>just the unfair system’s probability estimates after it makes predictions. This adjustment</a:t>
            </a:r>
          </a:p>
          <a:p>
            <a:pPr marL="0" indent="0">
              <a:lnSpc>
                <a:spcPct val="100000"/>
              </a:lnSpc>
              <a:buNone/>
            </a:pPr>
            <a:r>
              <a:rPr lang="en-US" sz="1700" dirty="0"/>
              <a:t>helps the system set different decision thresholds for various sensitive attribute groups.</a:t>
            </a:r>
          </a:p>
          <a:p>
            <a:pPr marL="0" indent="0">
              <a:lnSpc>
                <a:spcPct val="100000"/>
              </a:lnSpc>
              <a:buNone/>
            </a:pPr>
            <a:r>
              <a:rPr lang="en-US" sz="1700" dirty="0"/>
              <a:t>However, this method has a limitation: it needs sensitive attribute information at the time</a:t>
            </a:r>
          </a:p>
          <a:p>
            <a:pPr marL="0" indent="0">
              <a:lnSpc>
                <a:spcPct val="100000"/>
              </a:lnSpc>
              <a:buNone/>
            </a:pPr>
            <a:r>
              <a:rPr lang="en-US" sz="1700" dirty="0"/>
              <a:t>of decision-making. So, it may not work when this information is unavailable.</a:t>
            </a:r>
          </a:p>
        </p:txBody>
      </p:sp>
    </p:spTree>
    <p:extLst>
      <p:ext uri="{BB962C8B-B14F-4D97-AF65-F5344CB8AC3E}">
        <p14:creationId xmlns:p14="http://schemas.microsoft.com/office/powerpoint/2010/main" val="3531184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D6CB783F-4879-4A56-B28A-1E2C9A95D4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36" name="Freeform: Shape 35">
              <a:extLst>
                <a:ext uri="{FF2B5EF4-FFF2-40B4-BE49-F238E27FC236}">
                  <a16:creationId xmlns:a16="http://schemas.microsoft.com/office/drawing/2014/main" id="{F03B7790-AC1F-4C9E-82A5-0D3ED9135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37" name="Freeform: Shape 36">
              <a:extLst>
                <a:ext uri="{FF2B5EF4-FFF2-40B4-BE49-F238E27FC236}">
                  <a16:creationId xmlns:a16="http://schemas.microsoft.com/office/drawing/2014/main" id="{24F41532-E3DD-4685-AF21-DC5A504FC8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E5153570-165D-4616-83D8-9A81A85947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78D218DB-9E8A-400D-A93E-5F3A437BD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7FD9BE2F-E553-4E8C-A576-FF0883CD7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1DB66DC4-9D1C-4972-9B69-92E0B38ED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458D61B9-00C6-41E7-8666-EE5685A623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60701468-47AF-4411-BA59-AE2B83A64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9E530B28-D2D6-76CE-6100-94533952F5C7}"/>
              </a:ext>
            </a:extLst>
          </p:cNvPr>
          <p:cNvSpPr>
            <a:spLocks noGrp="1"/>
          </p:cNvSpPr>
          <p:nvPr>
            <p:ph type="title"/>
          </p:nvPr>
        </p:nvSpPr>
        <p:spPr>
          <a:xfrm>
            <a:off x="1198181" y="741024"/>
            <a:ext cx="3812079" cy="5396722"/>
          </a:xfrm>
        </p:spPr>
        <p:txBody>
          <a:bodyPr vert="horz" lIns="91440" tIns="45720" rIns="91440" bIns="45720" rtlCol="0" anchor="t">
            <a:normAutofit/>
          </a:bodyPr>
          <a:lstStyle/>
          <a:p>
            <a:r>
              <a:rPr lang="en-US" kern="1200" dirty="0">
                <a:solidFill>
                  <a:schemeClr val="tx2"/>
                </a:solidFill>
                <a:latin typeface="+mj-lt"/>
                <a:ea typeface="+mj-ea"/>
                <a:cs typeface="+mj-cs"/>
              </a:rPr>
              <a:t>3- Problem Formulation &amp; Methodology</a:t>
            </a:r>
          </a:p>
        </p:txBody>
      </p:sp>
      <p:grpSp>
        <p:nvGrpSpPr>
          <p:cNvPr id="24" name="Bottom Right">
            <a:extLst>
              <a:ext uri="{FF2B5EF4-FFF2-40B4-BE49-F238E27FC236}">
                <a16:creationId xmlns:a16="http://schemas.microsoft.com/office/drawing/2014/main" id="{9028FA34-8D15-405C-A297-54A197D403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44" name="Freeform: Shape 43">
              <a:extLst>
                <a:ext uri="{FF2B5EF4-FFF2-40B4-BE49-F238E27FC236}">
                  <a16:creationId xmlns:a16="http://schemas.microsoft.com/office/drawing/2014/main" id="{8AED69D7-BD1D-491F-835F-95796C4DF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9E8BC73D-4B2E-4536-8B48-265F656A83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45" name="Freeform: Shape 44">
                <a:extLst>
                  <a:ext uri="{FF2B5EF4-FFF2-40B4-BE49-F238E27FC236}">
                    <a16:creationId xmlns:a16="http://schemas.microsoft.com/office/drawing/2014/main" id="{3DD0BD99-2EC5-440C-A81F-C604BF4118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4BDB05EC-0C9A-43B3-A6AB-3D4A0C970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D0EC4D5A-F9ED-429B-8EFF-D45EA7165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D8E5202A-45FC-4ACF-A728-CEE4E4842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61AE8ADB-4E56-4A59-94AA-54D5CD603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E4A7AC17-663B-456E-984D-5322ADFA32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B2E6C460-0C43-446E-A206-1C62381E81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2" name="Freeform: Shape 51">
              <a:extLst>
                <a:ext uri="{FF2B5EF4-FFF2-40B4-BE49-F238E27FC236}">
                  <a16:creationId xmlns:a16="http://schemas.microsoft.com/office/drawing/2014/main" id="{667203C1-C538-43DB-ADAF-111F27A2B5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 name="TextBox 4">
            <a:extLst>
              <a:ext uri="{FF2B5EF4-FFF2-40B4-BE49-F238E27FC236}">
                <a16:creationId xmlns:a16="http://schemas.microsoft.com/office/drawing/2014/main" id="{FD95EF92-047B-1E6E-F9CC-7466DF6C8DB7}"/>
              </a:ext>
            </a:extLst>
          </p:cNvPr>
          <p:cNvSpPr txBox="1"/>
          <p:nvPr/>
        </p:nvSpPr>
        <p:spPr>
          <a:xfrm>
            <a:off x="5202788" y="716366"/>
            <a:ext cx="5970490" cy="5396722"/>
          </a:xfrm>
          <a:prstGeom prst="rect">
            <a:avLst/>
          </a:prstGeom>
        </p:spPr>
        <p:txBody>
          <a:bodyPr vert="horz" lIns="91440" tIns="45720" rIns="91440" bIns="45720" rtlCol="0" anchor="ctr">
            <a:normAutofit/>
          </a:bodyPr>
          <a:lstStyle/>
          <a:p>
            <a:pPr defTabSz="914400">
              <a:spcAft>
                <a:spcPts val="600"/>
              </a:spcAft>
              <a:buClr>
                <a:schemeClr val="accent5"/>
              </a:buClr>
            </a:pPr>
            <a:r>
              <a:rPr lang="en-US" sz="1400" dirty="0">
                <a:solidFill>
                  <a:schemeClr val="tx2"/>
                </a:solidFill>
              </a:rPr>
              <a:t>								Min L(θ)		</a:t>
            </a:r>
          </a:p>
          <a:p>
            <a:pPr indent="-228600" defTabSz="914400">
              <a:spcAft>
                <a:spcPts val="600"/>
              </a:spcAft>
              <a:buClr>
                <a:schemeClr val="accent5"/>
              </a:buClr>
              <a:buFont typeface="Avenir Next LT Pro" panose="020B0504020202020204" pitchFamily="34" charset="0"/>
              <a:buChar char="+"/>
            </a:pPr>
            <a:endParaRPr lang="en-US" sz="1400" dirty="0">
              <a:solidFill>
                <a:schemeClr val="tx2"/>
              </a:solidFill>
            </a:endParaRPr>
          </a:p>
          <a:p>
            <a:pPr indent="-228600" defTabSz="914400">
              <a:spcAft>
                <a:spcPts val="600"/>
              </a:spcAft>
              <a:buClr>
                <a:schemeClr val="accent5"/>
              </a:buClr>
              <a:buFont typeface="Avenir Next LT Pro" panose="020B0504020202020204" pitchFamily="34" charset="0"/>
              <a:buChar char="+"/>
            </a:pPr>
            <a:r>
              <a:rPr lang="en-US" sz="1400" dirty="0">
                <a:solidFill>
                  <a:schemeClr val="tx2"/>
                </a:solidFill>
              </a:rPr>
              <a:t>We aim to find a function f(x) that maps user feature vectors x ∈ </a:t>
            </a:r>
            <a:r>
              <a:rPr lang="en-US" sz="1400" i="1" dirty="0">
                <a:solidFill>
                  <a:schemeClr val="tx2"/>
                </a:solidFill>
                <a:effectLst/>
              </a:rPr>
              <a:t>R</a:t>
            </a:r>
            <a:r>
              <a:rPr lang="en-US" sz="1400" i="1" baseline="30000" dirty="0">
                <a:solidFill>
                  <a:schemeClr val="tx2"/>
                </a:solidFill>
                <a:effectLst/>
              </a:rPr>
              <a:t>d</a:t>
            </a:r>
            <a:r>
              <a:rPr lang="en-US" sz="1400" dirty="0">
                <a:solidFill>
                  <a:schemeClr val="tx2"/>
                </a:solidFill>
              </a:rPr>
              <a:t> and class labels y ∈ {−1, 1}.</a:t>
            </a:r>
          </a:p>
          <a:p>
            <a:pPr indent="-228600" defTabSz="914400">
              <a:spcAft>
                <a:spcPts val="600"/>
              </a:spcAft>
              <a:buClr>
                <a:schemeClr val="accent5"/>
              </a:buClr>
              <a:buFont typeface="Avenir Next LT Pro" panose="020B0504020202020204" pitchFamily="34" charset="0"/>
              <a:buChar char="+"/>
            </a:pPr>
            <a:r>
              <a:rPr lang="en-US" sz="1400" dirty="0">
                <a:solidFill>
                  <a:schemeClr val="tx2"/>
                </a:solidFill>
              </a:rPr>
              <a:t>To achieve this, we need to determine a decision boundary θ ∗ = </a:t>
            </a:r>
            <a:r>
              <a:rPr lang="en-US" sz="1400" dirty="0" err="1">
                <a:solidFill>
                  <a:schemeClr val="tx2"/>
                </a:solidFill>
              </a:rPr>
              <a:t>argminL</a:t>
            </a:r>
            <a:r>
              <a:rPr lang="en-US" sz="1400" dirty="0">
                <a:solidFill>
                  <a:schemeClr val="tx2"/>
                </a:solidFill>
              </a:rPr>
              <a:t>(θ) (a surface separating the data-points of different classes) using a training dataset D = {(xi , </a:t>
            </a:r>
            <a:r>
              <a:rPr lang="en-US" sz="1400" dirty="0" err="1">
                <a:solidFill>
                  <a:schemeClr val="tx2"/>
                </a:solidFill>
              </a:rPr>
              <a:t>yi</a:t>
            </a:r>
            <a:r>
              <a:rPr lang="en-US" sz="1400" dirty="0">
                <a:solidFill>
                  <a:schemeClr val="tx2"/>
                </a:solidFill>
              </a:rPr>
              <a:t>)} for </a:t>
            </a:r>
            <a:r>
              <a:rPr lang="en-US" sz="1400" dirty="0" err="1">
                <a:solidFill>
                  <a:schemeClr val="tx2"/>
                </a:solidFill>
              </a:rPr>
              <a:t>i</a:t>
            </a:r>
            <a:r>
              <a:rPr lang="en-US" sz="1400" dirty="0">
                <a:solidFill>
                  <a:schemeClr val="tx2"/>
                </a:solidFill>
              </a:rPr>
              <a:t> = 1 to N. </a:t>
            </a:r>
          </a:p>
          <a:p>
            <a:pPr indent="-228600" defTabSz="914400">
              <a:spcAft>
                <a:spcPts val="600"/>
              </a:spcAft>
              <a:buClr>
                <a:schemeClr val="accent5"/>
              </a:buClr>
              <a:buFont typeface="Avenir Next LT Pro" panose="020B0504020202020204" pitchFamily="34" charset="0"/>
              <a:buChar char="+"/>
            </a:pPr>
            <a:endParaRPr lang="en-US" sz="1400" dirty="0">
              <a:solidFill>
                <a:schemeClr val="tx2"/>
              </a:solidFill>
            </a:endParaRPr>
          </a:p>
          <a:p>
            <a:pPr indent="-228600" defTabSz="914400">
              <a:spcAft>
                <a:spcPts val="600"/>
              </a:spcAft>
              <a:buClr>
                <a:schemeClr val="accent5"/>
              </a:buClr>
              <a:buFont typeface="Avenir Next LT Pro" panose="020B0504020202020204" pitchFamily="34" charset="0"/>
              <a:buChar char="+"/>
            </a:pPr>
            <a:r>
              <a:rPr lang="en-US" sz="1400" dirty="0">
                <a:solidFill>
                  <a:schemeClr val="tx2"/>
                </a:solidFill>
              </a:rPr>
              <a:t>Then, when we’re given a new feature vector x, the system will be able to predict whether yˆ = 1 (if </a:t>
            </a:r>
            <a:r>
              <a:rPr lang="en-US" sz="1400" dirty="0" err="1">
                <a:solidFill>
                  <a:schemeClr val="tx2"/>
                </a:solidFill>
              </a:rPr>
              <a:t>dθ</a:t>
            </a:r>
            <a:r>
              <a:rPr lang="en-US" sz="1400" dirty="0">
                <a:solidFill>
                  <a:schemeClr val="tx2"/>
                </a:solidFill>
              </a:rPr>
              <a:t> ∗ (x) ≥ 0) or yˆ = −1 if (</a:t>
            </a:r>
            <a:r>
              <a:rPr lang="en-US" sz="1400" dirty="0" err="1">
                <a:solidFill>
                  <a:schemeClr val="tx2"/>
                </a:solidFill>
              </a:rPr>
              <a:t>dθ</a:t>
            </a:r>
            <a:r>
              <a:rPr lang="en-US" sz="1400" dirty="0">
                <a:solidFill>
                  <a:schemeClr val="tx2"/>
                </a:solidFill>
              </a:rPr>
              <a:t> ∗ ((x)) &lt; 0).</a:t>
            </a:r>
          </a:p>
          <a:p>
            <a:pPr indent="-228600" defTabSz="914400">
              <a:spcAft>
                <a:spcPts val="600"/>
              </a:spcAft>
              <a:buClr>
                <a:schemeClr val="accent5"/>
              </a:buClr>
              <a:buFont typeface="Avenir Next LT Pro" panose="020B0504020202020204" pitchFamily="34" charset="0"/>
              <a:buChar char="+"/>
            </a:pPr>
            <a:r>
              <a:rPr lang="en-US" sz="1400" dirty="0">
                <a:solidFill>
                  <a:schemeClr val="tx2"/>
                </a:solidFill>
              </a:rPr>
              <a:t> </a:t>
            </a:r>
            <a:r>
              <a:rPr lang="en-US" sz="1400" dirty="0" err="1">
                <a:solidFill>
                  <a:schemeClr val="tx2"/>
                </a:solidFill>
              </a:rPr>
              <a:t>dθ</a:t>
            </a:r>
            <a:r>
              <a:rPr lang="en-US" sz="1400" dirty="0">
                <a:solidFill>
                  <a:schemeClr val="tx2"/>
                </a:solidFill>
              </a:rPr>
              <a:t> ∗(x) represents the signed distance from x to the decision boundary. If it is on the positive side, ˆy = 1, and ˆy = −1 otherwise.</a:t>
            </a:r>
          </a:p>
          <a:p>
            <a:pPr indent="-228600" defTabSz="914400">
              <a:spcAft>
                <a:spcPts val="600"/>
              </a:spcAft>
              <a:buClr>
                <a:schemeClr val="accent5"/>
              </a:buClr>
              <a:buFont typeface="Avenir Next LT Pro" panose="020B0504020202020204" pitchFamily="34" charset="0"/>
              <a:buChar char="+"/>
            </a:pPr>
            <a:endParaRPr lang="en-US" sz="1400" dirty="0">
              <a:solidFill>
                <a:schemeClr val="tx2"/>
              </a:solidFill>
            </a:endParaRPr>
          </a:p>
          <a:p>
            <a:pPr indent="-228600" defTabSz="914400">
              <a:spcAft>
                <a:spcPts val="600"/>
              </a:spcAft>
              <a:buClr>
                <a:schemeClr val="accent5"/>
              </a:buClr>
              <a:buFont typeface="Avenir Next LT Pro" panose="020B0504020202020204" pitchFamily="34" charset="0"/>
              <a:buChar char="+"/>
            </a:pPr>
            <a:r>
              <a:rPr lang="en-US" sz="1400" dirty="0">
                <a:solidFill>
                  <a:schemeClr val="tx2"/>
                </a:solidFill>
              </a:rPr>
              <a:t>In this paper, a logistic regression model will be used. The decision boundary here will be the hyperplane defined by </a:t>
            </a:r>
            <a:r>
              <a:rPr lang="en-US" sz="1400" dirty="0" err="1">
                <a:solidFill>
                  <a:schemeClr val="tx2"/>
                </a:solidFill>
                <a:effectLst/>
              </a:rPr>
              <a:t>θ</a:t>
            </a:r>
            <a:r>
              <a:rPr lang="en-US" sz="1400" baseline="30000" dirty="0" err="1">
                <a:solidFill>
                  <a:schemeClr val="tx2"/>
                </a:solidFill>
                <a:effectLst/>
              </a:rPr>
              <a:t>T</a:t>
            </a:r>
            <a:r>
              <a:rPr lang="en-US" sz="1400" b="1" dirty="0" err="1">
                <a:solidFill>
                  <a:schemeClr val="tx2"/>
                </a:solidFill>
                <a:effectLst/>
              </a:rPr>
              <a:t>x</a:t>
            </a:r>
            <a:r>
              <a:rPr lang="en-US" sz="1400" b="1" dirty="0">
                <a:solidFill>
                  <a:schemeClr val="tx2"/>
                </a:solidFill>
                <a:effectLst/>
              </a:rPr>
              <a:t> </a:t>
            </a:r>
            <a:r>
              <a:rPr lang="en-US" sz="1400" dirty="0">
                <a:solidFill>
                  <a:schemeClr val="tx2"/>
                </a:solidFill>
              </a:rPr>
              <a:t>= 0, and </a:t>
            </a:r>
            <a:r>
              <a:rPr lang="en-US" sz="1400" dirty="0" err="1">
                <a:solidFill>
                  <a:schemeClr val="tx2"/>
                </a:solidFill>
              </a:rPr>
              <a:t>dθ</a:t>
            </a:r>
            <a:r>
              <a:rPr lang="en-US" sz="1400" dirty="0">
                <a:solidFill>
                  <a:schemeClr val="tx2"/>
                </a:solidFill>
              </a:rPr>
              <a:t>(x) = </a:t>
            </a:r>
            <a:r>
              <a:rPr lang="en-US" sz="1400" dirty="0" err="1">
                <a:solidFill>
                  <a:schemeClr val="tx2"/>
                </a:solidFill>
                <a:effectLst/>
              </a:rPr>
              <a:t>θ</a:t>
            </a:r>
            <a:r>
              <a:rPr lang="en-US" sz="1400" baseline="30000" dirty="0" err="1">
                <a:solidFill>
                  <a:schemeClr val="tx2"/>
                </a:solidFill>
                <a:effectLst/>
              </a:rPr>
              <a:t>T</a:t>
            </a:r>
            <a:r>
              <a:rPr lang="en-US" sz="1400" b="1" dirty="0" err="1">
                <a:solidFill>
                  <a:schemeClr val="tx2"/>
                </a:solidFill>
                <a:effectLst/>
              </a:rPr>
              <a:t>x</a:t>
            </a:r>
            <a:r>
              <a:rPr lang="en-US" sz="1400" dirty="0">
                <a:solidFill>
                  <a:schemeClr val="tx2"/>
                </a:solidFill>
              </a:rPr>
              <a:t>. Consider that we have a feature vector x and a sensitive attribute z = {0, 1}. The constraints for the three notions of fairness will be defined as follow:</a:t>
            </a:r>
          </a:p>
        </p:txBody>
      </p:sp>
    </p:spTree>
    <p:extLst>
      <p:ext uri="{BB962C8B-B14F-4D97-AF65-F5344CB8AC3E}">
        <p14:creationId xmlns:p14="http://schemas.microsoft.com/office/powerpoint/2010/main" val="532967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5181EF3-D7A7-D2A3-FAFA-F66DB9564023}"/>
                  </a:ext>
                </a:extLst>
              </p:cNvPr>
              <p:cNvSpPr txBox="1"/>
              <p:nvPr/>
            </p:nvSpPr>
            <p:spPr>
              <a:xfrm>
                <a:off x="3768560" y="2489263"/>
                <a:ext cx="6102096" cy="461665"/>
              </a:xfrm>
              <a:prstGeom prst="rect">
                <a:avLst/>
              </a:prstGeom>
              <a:noFill/>
            </p:spPr>
            <p:txBody>
              <a:bodyPr wrap="square">
                <a:spAutoFit/>
              </a:bodyPr>
              <a:lstStyle/>
              <a:p>
                <a14:m>
                  <m:oMath xmlns:m="http://schemas.openxmlformats.org/officeDocument/2006/math">
                    <m:r>
                      <a:rPr lang="en-US" sz="2400" b="0" i="1" smtClean="0">
                        <a:latin typeface="Cambria Math" panose="02040503050406030204" pitchFamily="18" charset="0"/>
                      </a:rPr>
                      <m:t>[</m:t>
                    </m:r>
                    <m:r>
                      <a:rPr lang="en-US" sz="2400" i="1" smtClean="0">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e>
                      <m:e>
                        <m:r>
                          <a:rPr lang="en-US" sz="2400" b="1" i="1" smtClean="0">
                            <a:latin typeface="Cambria Math" panose="02040503050406030204" pitchFamily="18" charset="0"/>
                          </a:rPr>
                          <m:t>𝒙</m:t>
                        </m:r>
                        <m:r>
                          <a:rPr lang="en-US" sz="2400" b="0" i="1" smtClean="0">
                            <a:latin typeface="Cambria Math" panose="02040503050406030204" pitchFamily="18" charset="0"/>
                          </a:rPr>
                          <m:t>,</m:t>
                        </m:r>
                        <m:r>
                          <a:rPr lang="en-US" sz="2400" b="0" i="1">
                            <a:latin typeface="Cambria Math" panose="02040503050406030204" pitchFamily="18" charset="0"/>
                          </a:rPr>
                          <m:t>𝑧</m:t>
                        </m:r>
                      </m:e>
                    </m:d>
                    <m:r>
                      <a:rPr lang="en-US" sz="2400" i="0">
                        <a:latin typeface="Cambria Math" panose="02040503050406030204" pitchFamily="18" charset="0"/>
                      </a:rPr>
                      <m:t>=</m:t>
                    </m:r>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e>
                      <m:e>
                        <m:r>
                          <a:rPr lang="en-US" sz="2400" b="1" i="1" smtClean="0">
                            <a:latin typeface="Cambria Math" panose="02040503050406030204" pitchFamily="18" charset="0"/>
                          </a:rPr>
                          <m:t>𝒙</m:t>
                        </m:r>
                      </m:e>
                    </m:d>
                  </m:oMath>
                </a14:m>
                <a:r>
                  <a:rPr lang="en-US" sz="2400" dirty="0"/>
                  <a:t>]</a:t>
                </a:r>
              </a:p>
            </p:txBody>
          </p:sp>
        </mc:Choice>
        <mc:Fallback xmlns="">
          <p:sp>
            <p:nvSpPr>
              <p:cNvPr id="14" name="TextBox 13">
                <a:extLst>
                  <a:ext uri="{FF2B5EF4-FFF2-40B4-BE49-F238E27FC236}">
                    <a16:creationId xmlns:a16="http://schemas.microsoft.com/office/drawing/2014/main" id="{15181EF3-D7A7-D2A3-FAFA-F66DB9564023}"/>
                  </a:ext>
                </a:extLst>
              </p:cNvPr>
              <p:cNvSpPr txBox="1">
                <a:spLocks noRot="1" noChangeAspect="1" noMove="1" noResize="1" noEditPoints="1" noAdjustHandles="1" noChangeArrowheads="1" noChangeShapeType="1" noTextEdit="1"/>
              </p:cNvSpPr>
              <p:nvPr/>
            </p:nvSpPr>
            <p:spPr>
              <a:xfrm>
                <a:off x="3768560" y="2489263"/>
                <a:ext cx="6102096" cy="461665"/>
              </a:xfrm>
              <a:prstGeom prst="rect">
                <a:avLst/>
              </a:prstGeom>
              <a:blipFill>
                <a:blip r:embed="rId2"/>
                <a:stretch>
                  <a:fillRect l="-799" t="-9211" b="-30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402359A-1264-477E-CC04-D65CD8C20410}"/>
                  </a:ext>
                </a:extLst>
              </p:cNvPr>
              <p:cNvSpPr txBox="1"/>
              <p:nvPr/>
            </p:nvSpPr>
            <p:spPr>
              <a:xfrm>
                <a:off x="3768560" y="4485534"/>
                <a:ext cx="6102096" cy="461665"/>
              </a:xfrm>
              <a:prstGeom prst="rect">
                <a:avLst/>
              </a:prstGeom>
              <a:noFill/>
            </p:spPr>
            <p:txBody>
              <a:bodyPr wrap="square">
                <a:spAutoFit/>
              </a:bodyPr>
              <a:lstStyle/>
              <a:p>
                <a14:m>
                  <m:oMath xmlns:m="http://schemas.openxmlformats.org/officeDocument/2006/math">
                    <m:r>
                      <a:rPr lang="en-US" sz="2400" b="0" i="1" smtClean="0">
                        <a:latin typeface="Cambria Math" panose="02040503050406030204" pitchFamily="18" charset="0"/>
                      </a:rPr>
                      <m:t>[</m:t>
                    </m:r>
                    <m:r>
                      <a:rPr lang="en-US" sz="2400" i="1" smtClean="0">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b="0" i="0" smtClean="0">
                            <a:latin typeface="Cambria Math" panose="02040503050406030204" pitchFamily="18" charset="0"/>
                          </a:rPr>
                          <m:t>=1</m:t>
                        </m:r>
                      </m:e>
                      <m:e>
                        <m:r>
                          <a:rPr lang="en-US" sz="2400" i="1">
                            <a:latin typeface="Cambria Math" panose="02040503050406030204" pitchFamily="18" charset="0"/>
                          </a:rPr>
                          <m:t>𝑧</m:t>
                        </m:r>
                        <m:r>
                          <a:rPr lang="en-US" sz="2400" i="0">
                            <a:latin typeface="Cambria Math" panose="02040503050406030204" pitchFamily="18" charset="0"/>
                          </a:rPr>
                          <m:t>=0</m:t>
                        </m:r>
                      </m:e>
                    </m:d>
                    <m:r>
                      <a:rPr lang="en-US" sz="2400" i="0">
                        <a:latin typeface="Cambria Math" panose="02040503050406030204" pitchFamily="18" charset="0"/>
                      </a:rPr>
                      <m:t>=</m:t>
                    </m:r>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b="0" i="0" smtClean="0">
                            <a:latin typeface="Cambria Math" panose="02040503050406030204" pitchFamily="18" charset="0"/>
                          </a:rPr>
                          <m:t>=1</m:t>
                        </m:r>
                      </m:e>
                      <m:e>
                        <m:r>
                          <a:rPr lang="en-US" sz="2400" i="1">
                            <a:latin typeface="Cambria Math" panose="02040503050406030204" pitchFamily="18" charset="0"/>
                          </a:rPr>
                          <m:t>𝑧</m:t>
                        </m:r>
                        <m:r>
                          <a:rPr lang="en-US" sz="2400" i="0">
                            <a:latin typeface="Cambria Math" panose="02040503050406030204" pitchFamily="18" charset="0"/>
                          </a:rPr>
                          <m:t>=1</m:t>
                        </m:r>
                      </m:e>
                    </m:d>
                  </m:oMath>
                </a14:m>
                <a:r>
                  <a:rPr lang="en-US" sz="2400" dirty="0"/>
                  <a:t>]</a:t>
                </a:r>
              </a:p>
            </p:txBody>
          </p:sp>
        </mc:Choice>
        <mc:Fallback xmlns="">
          <p:sp>
            <p:nvSpPr>
              <p:cNvPr id="15" name="TextBox 14">
                <a:extLst>
                  <a:ext uri="{FF2B5EF4-FFF2-40B4-BE49-F238E27FC236}">
                    <a16:creationId xmlns:a16="http://schemas.microsoft.com/office/drawing/2014/main" id="{8402359A-1264-477E-CC04-D65CD8C20410}"/>
                  </a:ext>
                </a:extLst>
              </p:cNvPr>
              <p:cNvSpPr txBox="1">
                <a:spLocks noRot="1" noChangeAspect="1" noMove="1" noResize="1" noEditPoints="1" noAdjustHandles="1" noChangeArrowheads="1" noChangeShapeType="1" noTextEdit="1"/>
              </p:cNvSpPr>
              <p:nvPr/>
            </p:nvSpPr>
            <p:spPr>
              <a:xfrm>
                <a:off x="3768560" y="4485534"/>
                <a:ext cx="6102096" cy="461665"/>
              </a:xfrm>
              <a:prstGeom prst="rect">
                <a:avLst/>
              </a:prstGeom>
              <a:blipFill>
                <a:blip r:embed="rId3"/>
                <a:stretch>
                  <a:fillRect l="-799" t="-9211" b="-30263"/>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BA00BF53-A8E7-510B-2A1C-DD0F7B865C15}"/>
              </a:ext>
            </a:extLst>
          </p:cNvPr>
          <p:cNvSpPr txBox="1"/>
          <p:nvPr/>
        </p:nvSpPr>
        <p:spPr>
          <a:xfrm>
            <a:off x="4509734" y="290151"/>
            <a:ext cx="3172532" cy="461665"/>
          </a:xfrm>
          <a:prstGeom prst="rect">
            <a:avLst/>
          </a:prstGeom>
          <a:noFill/>
        </p:spPr>
        <p:txBody>
          <a:bodyPr wrap="square" rtlCol="0">
            <a:spAutoFit/>
          </a:bodyPr>
          <a:lstStyle/>
          <a:p>
            <a:r>
              <a:rPr lang="en-US" sz="2400" b="1" dirty="0"/>
              <a:t>Fairness Constraints</a:t>
            </a:r>
          </a:p>
        </p:txBody>
      </p:sp>
      <p:sp>
        <p:nvSpPr>
          <p:cNvPr id="17" name="TextBox 16">
            <a:extLst>
              <a:ext uri="{FF2B5EF4-FFF2-40B4-BE49-F238E27FC236}">
                <a16:creationId xmlns:a16="http://schemas.microsoft.com/office/drawing/2014/main" id="{B61B2A0F-337A-DACE-1B1D-B51FCCF68C15}"/>
              </a:ext>
            </a:extLst>
          </p:cNvPr>
          <p:cNvSpPr txBox="1"/>
          <p:nvPr/>
        </p:nvSpPr>
        <p:spPr>
          <a:xfrm>
            <a:off x="2492828" y="1274291"/>
            <a:ext cx="7206343" cy="923330"/>
          </a:xfrm>
          <a:prstGeom prst="rect">
            <a:avLst/>
          </a:prstGeom>
          <a:noFill/>
        </p:spPr>
        <p:txBody>
          <a:bodyPr wrap="square" rtlCol="0">
            <a:spAutoFit/>
          </a:bodyPr>
          <a:lstStyle/>
          <a:p>
            <a:r>
              <a:rPr lang="en-US" b="1" dirty="0"/>
              <a:t>Disparate Treatment: </a:t>
            </a:r>
            <a:r>
              <a:rPr lang="en-US" dirty="0"/>
              <a:t>The Probability that a classifier outputs a value of y^, given the feature vector </a:t>
            </a:r>
            <a:r>
              <a:rPr lang="en-US" b="1" dirty="0"/>
              <a:t>x</a:t>
            </a:r>
            <a:r>
              <a:rPr lang="en-US" dirty="0"/>
              <a:t>, must remain the same if the sensitive attribute z is also given</a:t>
            </a:r>
            <a:endParaRPr lang="en-US" b="1" dirty="0"/>
          </a:p>
        </p:txBody>
      </p:sp>
      <p:sp>
        <p:nvSpPr>
          <p:cNvPr id="18" name="TextBox 17">
            <a:extLst>
              <a:ext uri="{FF2B5EF4-FFF2-40B4-BE49-F238E27FC236}">
                <a16:creationId xmlns:a16="http://schemas.microsoft.com/office/drawing/2014/main" id="{690E4071-8C0E-305D-F510-C3DC02892125}"/>
              </a:ext>
            </a:extLst>
          </p:cNvPr>
          <p:cNvSpPr txBox="1"/>
          <p:nvPr/>
        </p:nvSpPr>
        <p:spPr>
          <a:xfrm>
            <a:off x="2492828" y="3339962"/>
            <a:ext cx="7399600" cy="646331"/>
          </a:xfrm>
          <a:prstGeom prst="rect">
            <a:avLst/>
          </a:prstGeom>
          <a:noFill/>
        </p:spPr>
        <p:txBody>
          <a:bodyPr wrap="square" rtlCol="0">
            <a:spAutoFit/>
          </a:bodyPr>
          <a:lstStyle/>
          <a:p>
            <a:r>
              <a:rPr lang="en-US" b="1" dirty="0"/>
              <a:t>Disparate Impact: </a:t>
            </a:r>
            <a:r>
              <a:rPr lang="en-US" dirty="0"/>
              <a:t>The Probability of getting the output y^=1 (or 0) should be the same for both values of the sensitive feature z</a:t>
            </a:r>
            <a:endParaRPr lang="en-US" b="1" dirty="0"/>
          </a:p>
        </p:txBody>
      </p:sp>
    </p:spTree>
    <p:extLst>
      <p:ext uri="{BB962C8B-B14F-4D97-AF65-F5344CB8AC3E}">
        <p14:creationId xmlns:p14="http://schemas.microsoft.com/office/powerpoint/2010/main" val="2445801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29AE06-8341-04B1-5E80-CAD31470C805}"/>
              </a:ext>
            </a:extLst>
          </p:cNvPr>
          <p:cNvSpPr txBox="1"/>
          <p:nvPr/>
        </p:nvSpPr>
        <p:spPr>
          <a:xfrm>
            <a:off x="1926336" y="36576"/>
            <a:ext cx="9753600" cy="230755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Disparate Mistreatment</a:t>
            </a:r>
            <a:r>
              <a:rPr lang="en-US" sz="2400" dirty="0">
                <a:latin typeface="Times New Roman" panose="02020603050405020304" pitchFamily="18" charset="0"/>
                <a:cs typeface="Times New Roman" panose="02020603050405020304" pitchFamily="18" charset="0"/>
              </a:rPr>
              <a:t>: The misclassification rates for different groups of people having different values of z should remain the same. Here we have many misclassification measures, such as: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 Overall Misclassification Rate: </a:t>
            </a:r>
          </a:p>
          <a:p>
            <a:pPr marL="0" marR="0">
              <a:lnSpc>
                <a:spcPct val="107000"/>
              </a:lnSpc>
              <a:spcBef>
                <a:spcPts val="0"/>
              </a:spcBef>
              <a:spcAft>
                <a:spcPts val="800"/>
              </a:spcAft>
            </a:pPr>
            <a:r>
              <a:rPr lang="en-US" sz="2400" dirty="0">
                <a:latin typeface="Times New Roman" panose="02020603050405020304" pitchFamily="18" charset="0"/>
                <a:cs typeface="Times New Roman" panose="02020603050405020304" pitchFamily="18" charset="0"/>
              </a:rPr>
              <a:t>		</a:t>
            </a:r>
            <a:r>
              <a:rPr lang="en-US" sz="2400" i="1" baseline="30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2EE640-2F9B-3792-C287-3164E8C76B98}"/>
                  </a:ext>
                </a:extLst>
              </p:cNvPr>
              <p:cNvSpPr txBox="1"/>
              <p:nvPr/>
            </p:nvSpPr>
            <p:spPr>
              <a:xfrm>
                <a:off x="3044952" y="2071954"/>
                <a:ext cx="6102096" cy="461665"/>
              </a:xfrm>
              <a:prstGeom prst="rect">
                <a:avLst/>
              </a:prstGeom>
              <a:noFill/>
            </p:spPr>
            <p:txBody>
              <a:bodyPr wrap="square">
                <a:spAutoFit/>
              </a:bodyPr>
              <a:lstStyle/>
              <a:p>
                <a14:m>
                  <m:oMath xmlns:m="http://schemas.openxmlformats.org/officeDocument/2006/math">
                    <m:r>
                      <a:rPr lang="en-US" sz="2400" b="0" i="1" smtClean="0">
                        <a:latin typeface="Cambria Math" panose="02040503050406030204" pitchFamily="18" charset="0"/>
                      </a:rPr>
                      <m:t>[</m:t>
                    </m:r>
                    <m:r>
                      <a:rPr lang="en-US" sz="2400" i="1" smtClean="0">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i="0">
                            <a:latin typeface="Cambria Math" panose="02040503050406030204" pitchFamily="18" charset="0"/>
                          </a:rPr>
                          <m:t>≠</m:t>
                        </m:r>
                        <m:r>
                          <a:rPr lang="en-US" sz="2400" i="1">
                            <a:latin typeface="Cambria Math" panose="02040503050406030204" pitchFamily="18" charset="0"/>
                          </a:rPr>
                          <m:t>𝑦</m:t>
                        </m:r>
                      </m:e>
                      <m:e>
                        <m:r>
                          <a:rPr lang="en-US" sz="2400" i="1">
                            <a:latin typeface="Cambria Math" panose="02040503050406030204" pitchFamily="18" charset="0"/>
                          </a:rPr>
                          <m:t>𝑧</m:t>
                        </m:r>
                        <m:r>
                          <a:rPr lang="en-US" sz="2400" i="0">
                            <a:latin typeface="Cambria Math" panose="02040503050406030204" pitchFamily="18" charset="0"/>
                          </a:rPr>
                          <m:t>=0</m:t>
                        </m:r>
                      </m:e>
                    </m:d>
                    <m:r>
                      <a:rPr lang="en-US" sz="2400" i="0">
                        <a:latin typeface="Cambria Math" panose="02040503050406030204" pitchFamily="18" charset="0"/>
                      </a:rPr>
                      <m:t>=</m:t>
                    </m:r>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i="0">
                            <a:latin typeface="Cambria Math" panose="02040503050406030204" pitchFamily="18" charset="0"/>
                          </a:rPr>
                          <m:t>≠</m:t>
                        </m:r>
                        <m:r>
                          <a:rPr lang="en-US" sz="2400" i="1">
                            <a:latin typeface="Cambria Math" panose="02040503050406030204" pitchFamily="18" charset="0"/>
                          </a:rPr>
                          <m:t>𝑦</m:t>
                        </m:r>
                      </m:e>
                      <m:e>
                        <m:r>
                          <a:rPr lang="en-US" sz="2400" i="1">
                            <a:latin typeface="Cambria Math" panose="02040503050406030204" pitchFamily="18" charset="0"/>
                          </a:rPr>
                          <m:t>𝑧</m:t>
                        </m:r>
                        <m:r>
                          <a:rPr lang="en-US" sz="2400" i="0">
                            <a:latin typeface="Cambria Math" panose="02040503050406030204" pitchFamily="18" charset="0"/>
                          </a:rPr>
                          <m:t>=1</m:t>
                        </m:r>
                      </m:e>
                    </m:d>
                  </m:oMath>
                </a14:m>
                <a:r>
                  <a:rPr lang="en-US" sz="2400" dirty="0"/>
                  <a:t>]</a:t>
                </a:r>
              </a:p>
            </p:txBody>
          </p:sp>
        </mc:Choice>
        <mc:Fallback xmlns="">
          <p:sp>
            <p:nvSpPr>
              <p:cNvPr id="7" name="TextBox 6">
                <a:extLst>
                  <a:ext uri="{FF2B5EF4-FFF2-40B4-BE49-F238E27FC236}">
                    <a16:creationId xmlns:a16="http://schemas.microsoft.com/office/drawing/2014/main" id="{1C2EE640-2F9B-3792-C287-3164E8C76B98}"/>
                  </a:ext>
                </a:extLst>
              </p:cNvPr>
              <p:cNvSpPr txBox="1">
                <a:spLocks noRot="1" noChangeAspect="1" noMove="1" noResize="1" noEditPoints="1" noAdjustHandles="1" noChangeArrowheads="1" noChangeShapeType="1" noTextEdit="1"/>
              </p:cNvSpPr>
              <p:nvPr/>
            </p:nvSpPr>
            <p:spPr>
              <a:xfrm>
                <a:off x="3044952" y="2071954"/>
                <a:ext cx="6102096" cy="461665"/>
              </a:xfrm>
              <a:prstGeom prst="rect">
                <a:avLst/>
              </a:prstGeom>
              <a:blipFill>
                <a:blip r:embed="rId2"/>
                <a:stretch>
                  <a:fillRect l="-899" t="-9211" b="-30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305A002-1257-A779-DBF4-C8CB1F65FA26}"/>
                  </a:ext>
                </a:extLst>
              </p:cNvPr>
              <p:cNvSpPr txBox="1"/>
              <p:nvPr/>
            </p:nvSpPr>
            <p:spPr>
              <a:xfrm>
                <a:off x="2353056" y="5152686"/>
                <a:ext cx="798271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i="0">
                                  <a:latin typeface="Cambria Math" panose="02040503050406030204" pitchFamily="18" charset="0"/>
                                </a:rPr>
                                <m:t>≠</m:t>
                              </m:r>
                              <m:r>
                                <a:rPr lang="en-US" sz="2400" i="1">
                                  <a:latin typeface="Cambria Math" panose="02040503050406030204" pitchFamily="18" charset="0"/>
                                </a:rPr>
                                <m:t>𝑦</m:t>
                              </m:r>
                            </m:e>
                            <m:e>
                              <m:r>
                                <a:rPr lang="en-US" sz="2400" i="1">
                                  <a:latin typeface="Cambria Math" panose="02040503050406030204" pitchFamily="18" charset="0"/>
                                </a:rPr>
                                <m:t>𝑧</m:t>
                              </m:r>
                              <m:r>
                                <a:rPr lang="en-US" sz="2400" i="0">
                                  <a:latin typeface="Cambria Math" panose="02040503050406030204" pitchFamily="18" charset="0"/>
                                </a:rPr>
                                <m:t>=0,</m:t>
                              </m:r>
                              <m:r>
                                <a:rPr lang="en-US" sz="2400" i="1">
                                  <a:latin typeface="Cambria Math" panose="02040503050406030204" pitchFamily="18" charset="0"/>
                                </a:rPr>
                                <m:t>𝑦</m:t>
                              </m:r>
                              <m:r>
                                <a:rPr lang="en-US" sz="2400" i="0">
                                  <a:latin typeface="Cambria Math" panose="02040503050406030204" pitchFamily="18" charset="0"/>
                                </a:rPr>
                                <m:t>=1</m:t>
                              </m:r>
                            </m:e>
                          </m:d>
                          <m:r>
                            <a:rPr lang="en-US" sz="2400" i="0">
                              <a:latin typeface="Cambria Math" panose="02040503050406030204" pitchFamily="18" charset="0"/>
                            </a:rPr>
                            <m:t>=</m:t>
                          </m:r>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i="0">
                                  <a:latin typeface="Cambria Math" panose="02040503050406030204" pitchFamily="18" charset="0"/>
                                </a:rPr>
                                <m:t>≠</m:t>
                              </m:r>
                              <m:r>
                                <a:rPr lang="en-US" sz="2400" i="1">
                                  <a:latin typeface="Cambria Math" panose="02040503050406030204" pitchFamily="18" charset="0"/>
                                </a:rPr>
                                <m:t>𝑦</m:t>
                              </m:r>
                            </m:e>
                            <m:e>
                              <m:r>
                                <a:rPr lang="en-US" sz="2400" i="1">
                                  <a:latin typeface="Cambria Math" panose="02040503050406030204" pitchFamily="18" charset="0"/>
                                </a:rPr>
                                <m:t>𝑧</m:t>
                              </m:r>
                              <m:r>
                                <a:rPr lang="en-US" sz="2400" i="0">
                                  <a:latin typeface="Cambria Math" panose="02040503050406030204" pitchFamily="18" charset="0"/>
                                </a:rPr>
                                <m:t>=1,</m:t>
                              </m:r>
                              <m:r>
                                <a:rPr lang="en-US" sz="2400" i="1">
                                  <a:latin typeface="Cambria Math" panose="02040503050406030204" pitchFamily="18" charset="0"/>
                                </a:rPr>
                                <m:t>𝑦</m:t>
                              </m:r>
                              <m:r>
                                <a:rPr lang="en-US" sz="2400" i="0">
                                  <a:latin typeface="Cambria Math" panose="02040503050406030204" pitchFamily="18" charset="0"/>
                                </a:rPr>
                                <m:t>=1</m:t>
                              </m:r>
                            </m:e>
                          </m:d>
                        </m:e>
                      </m:d>
                    </m:oMath>
                  </m:oMathPara>
                </a14:m>
                <a:endParaRPr lang="en-US" sz="2400" dirty="0"/>
              </a:p>
            </p:txBody>
          </p:sp>
        </mc:Choice>
        <mc:Fallback xmlns="">
          <p:sp>
            <p:nvSpPr>
              <p:cNvPr id="9" name="TextBox 8">
                <a:extLst>
                  <a:ext uri="{FF2B5EF4-FFF2-40B4-BE49-F238E27FC236}">
                    <a16:creationId xmlns:a16="http://schemas.microsoft.com/office/drawing/2014/main" id="{D305A002-1257-A779-DBF4-C8CB1F65FA26}"/>
                  </a:ext>
                </a:extLst>
              </p:cNvPr>
              <p:cNvSpPr txBox="1">
                <a:spLocks noRot="1" noChangeAspect="1" noMove="1" noResize="1" noEditPoints="1" noAdjustHandles="1" noChangeArrowheads="1" noChangeShapeType="1" noTextEdit="1"/>
              </p:cNvSpPr>
              <p:nvPr/>
            </p:nvSpPr>
            <p:spPr>
              <a:xfrm>
                <a:off x="2353056" y="5152686"/>
                <a:ext cx="7982712" cy="461665"/>
              </a:xfrm>
              <a:prstGeom prst="rect">
                <a:avLst/>
              </a:prstGeom>
              <a:blipFill>
                <a:blip r:embed="rId3"/>
                <a:stretch>
                  <a:fillRect t="-1316" b="-13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B3311A-5DE2-BA16-4002-EDEBF63A3729}"/>
                  </a:ext>
                </a:extLst>
              </p:cNvPr>
              <p:cNvSpPr txBox="1"/>
              <p:nvPr/>
            </p:nvSpPr>
            <p:spPr>
              <a:xfrm>
                <a:off x="2612136" y="3615102"/>
                <a:ext cx="798271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i="0">
                                  <a:latin typeface="Cambria Math" panose="02040503050406030204" pitchFamily="18" charset="0"/>
                                </a:rPr>
                                <m:t>≠</m:t>
                              </m:r>
                              <m:r>
                                <a:rPr lang="en-US" sz="2400" i="1">
                                  <a:latin typeface="Cambria Math" panose="02040503050406030204" pitchFamily="18" charset="0"/>
                                </a:rPr>
                                <m:t>𝑦</m:t>
                              </m:r>
                            </m:e>
                            <m:e>
                              <m:r>
                                <a:rPr lang="en-US" sz="2400" i="1">
                                  <a:latin typeface="Cambria Math" panose="02040503050406030204" pitchFamily="18" charset="0"/>
                                </a:rPr>
                                <m:t>𝑧</m:t>
                              </m:r>
                              <m:r>
                                <a:rPr lang="en-US" sz="2400" i="0">
                                  <a:latin typeface="Cambria Math" panose="02040503050406030204" pitchFamily="18" charset="0"/>
                                </a:rPr>
                                <m:t>=0,</m:t>
                              </m:r>
                              <m:r>
                                <a:rPr lang="en-US" sz="2400" i="1">
                                  <a:latin typeface="Cambria Math" panose="02040503050406030204" pitchFamily="18" charset="0"/>
                                </a:rPr>
                                <m:t>𝑦</m:t>
                              </m:r>
                              <m:r>
                                <a:rPr lang="en-US" sz="2400" i="0">
                                  <a:latin typeface="Cambria Math" panose="02040503050406030204" pitchFamily="18" charset="0"/>
                                </a:rPr>
                                <m:t>=</m:t>
                              </m:r>
                              <m:r>
                                <a:rPr lang="en-US" sz="2400" b="0" i="0" smtClean="0">
                                  <a:latin typeface="Cambria Math" panose="02040503050406030204" pitchFamily="18" charset="0"/>
                                </a:rPr>
                                <m:t>−</m:t>
                              </m:r>
                              <m:r>
                                <a:rPr lang="en-US" sz="2400" i="0">
                                  <a:latin typeface="Cambria Math" panose="02040503050406030204" pitchFamily="18" charset="0"/>
                                </a:rPr>
                                <m:t>1</m:t>
                              </m:r>
                            </m:e>
                          </m:d>
                          <m:r>
                            <a:rPr lang="en-US" sz="2400" i="0">
                              <a:latin typeface="Cambria Math" panose="02040503050406030204" pitchFamily="18" charset="0"/>
                            </a:rPr>
                            <m:t>=</m:t>
                          </m:r>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i="0">
                                  <a:latin typeface="Cambria Math" panose="02040503050406030204" pitchFamily="18" charset="0"/>
                                </a:rPr>
                                <m:t>≠</m:t>
                              </m:r>
                              <m:r>
                                <a:rPr lang="en-US" sz="2400" i="1">
                                  <a:latin typeface="Cambria Math" panose="02040503050406030204" pitchFamily="18" charset="0"/>
                                </a:rPr>
                                <m:t>𝑦</m:t>
                              </m:r>
                            </m:e>
                            <m:e>
                              <m:r>
                                <a:rPr lang="en-US" sz="2400" i="1">
                                  <a:latin typeface="Cambria Math" panose="02040503050406030204" pitchFamily="18" charset="0"/>
                                </a:rPr>
                                <m:t>𝑧</m:t>
                              </m:r>
                              <m:r>
                                <a:rPr lang="en-US" sz="2400" i="0">
                                  <a:latin typeface="Cambria Math" panose="02040503050406030204" pitchFamily="18" charset="0"/>
                                </a:rPr>
                                <m:t>=1,</m:t>
                              </m:r>
                              <m:r>
                                <a:rPr lang="en-US" sz="2400" i="1">
                                  <a:latin typeface="Cambria Math" panose="02040503050406030204" pitchFamily="18" charset="0"/>
                                </a:rPr>
                                <m:t>𝑦</m:t>
                              </m:r>
                              <m:r>
                                <a:rPr lang="en-US" sz="2400" i="0">
                                  <a:latin typeface="Cambria Math" panose="02040503050406030204" pitchFamily="18" charset="0"/>
                                </a:rPr>
                                <m:t>=</m:t>
                              </m:r>
                              <m:r>
                                <a:rPr lang="en-US" sz="2400" b="0" i="0" smtClean="0">
                                  <a:latin typeface="Cambria Math" panose="02040503050406030204" pitchFamily="18" charset="0"/>
                                </a:rPr>
                                <m:t>−</m:t>
                              </m:r>
                              <m:r>
                                <a:rPr lang="en-US" sz="2400" i="0">
                                  <a:latin typeface="Cambria Math" panose="02040503050406030204" pitchFamily="18" charset="0"/>
                                </a:rPr>
                                <m:t>1</m:t>
                              </m:r>
                            </m:e>
                          </m:d>
                        </m:e>
                      </m:d>
                    </m:oMath>
                  </m:oMathPara>
                </a14:m>
                <a:endParaRPr lang="en-US" sz="2400" dirty="0"/>
              </a:p>
            </p:txBody>
          </p:sp>
        </mc:Choice>
        <mc:Fallback xmlns="">
          <p:sp>
            <p:nvSpPr>
              <p:cNvPr id="11" name="TextBox 10">
                <a:extLst>
                  <a:ext uri="{FF2B5EF4-FFF2-40B4-BE49-F238E27FC236}">
                    <a16:creationId xmlns:a16="http://schemas.microsoft.com/office/drawing/2014/main" id="{BAB3311A-5DE2-BA16-4002-EDEBF63A3729}"/>
                  </a:ext>
                </a:extLst>
              </p:cNvPr>
              <p:cNvSpPr txBox="1">
                <a:spLocks noRot="1" noChangeAspect="1" noMove="1" noResize="1" noEditPoints="1" noAdjustHandles="1" noChangeArrowheads="1" noChangeShapeType="1" noTextEdit="1"/>
              </p:cNvSpPr>
              <p:nvPr/>
            </p:nvSpPr>
            <p:spPr>
              <a:xfrm>
                <a:off x="2612136" y="3615102"/>
                <a:ext cx="7982712" cy="461665"/>
              </a:xfrm>
              <a:prstGeom prst="rect">
                <a:avLst/>
              </a:prstGeom>
              <a:blipFill>
                <a:blip r:embed="rId4"/>
                <a:stretch>
                  <a:fillRect t="-1316" b="-13158"/>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A800F598-74DA-5579-0F1D-E36F61625385}"/>
              </a:ext>
            </a:extLst>
          </p:cNvPr>
          <p:cNvSpPr txBox="1"/>
          <p:nvPr/>
        </p:nvSpPr>
        <p:spPr>
          <a:xfrm>
            <a:off x="2353056" y="2858502"/>
            <a:ext cx="4922520" cy="461665"/>
          </a:xfrm>
          <a:prstGeom prst="rect">
            <a:avLst/>
          </a:prstGeom>
          <a:noFill/>
        </p:spPr>
        <p:txBody>
          <a:bodyPr wrap="square" rtlCol="0">
            <a:spAutoFit/>
          </a:bodyPr>
          <a:lstStyle/>
          <a:p>
            <a:r>
              <a:rPr lang="en-US" sz="2400" dirty="0"/>
              <a:t>- False Positive Rate:</a:t>
            </a:r>
          </a:p>
        </p:txBody>
      </p:sp>
      <p:sp>
        <p:nvSpPr>
          <p:cNvPr id="13" name="TextBox 12">
            <a:extLst>
              <a:ext uri="{FF2B5EF4-FFF2-40B4-BE49-F238E27FC236}">
                <a16:creationId xmlns:a16="http://schemas.microsoft.com/office/drawing/2014/main" id="{1DEC3672-65EF-5D21-5A95-3D06446857A7}"/>
              </a:ext>
            </a:extLst>
          </p:cNvPr>
          <p:cNvSpPr txBox="1"/>
          <p:nvPr/>
        </p:nvSpPr>
        <p:spPr>
          <a:xfrm>
            <a:off x="2353056" y="4379509"/>
            <a:ext cx="4922520" cy="461665"/>
          </a:xfrm>
          <a:prstGeom prst="rect">
            <a:avLst/>
          </a:prstGeom>
          <a:noFill/>
        </p:spPr>
        <p:txBody>
          <a:bodyPr wrap="square" rtlCol="0">
            <a:spAutoFit/>
          </a:bodyPr>
          <a:lstStyle/>
          <a:p>
            <a:r>
              <a:rPr lang="en-US" sz="2400" dirty="0"/>
              <a:t>- False Negative Rate:</a:t>
            </a:r>
          </a:p>
        </p:txBody>
      </p:sp>
      <p:sp>
        <p:nvSpPr>
          <p:cNvPr id="14" name="TextBox 13">
            <a:extLst>
              <a:ext uri="{FF2B5EF4-FFF2-40B4-BE49-F238E27FC236}">
                <a16:creationId xmlns:a16="http://schemas.microsoft.com/office/drawing/2014/main" id="{6E137B29-4E90-AF30-C227-2205D0A5EEEA}"/>
              </a:ext>
            </a:extLst>
          </p:cNvPr>
          <p:cNvSpPr txBox="1"/>
          <p:nvPr/>
        </p:nvSpPr>
        <p:spPr>
          <a:xfrm>
            <a:off x="1926336" y="5736258"/>
            <a:ext cx="8900160" cy="646331"/>
          </a:xfrm>
          <a:prstGeom prst="rect">
            <a:avLst/>
          </a:prstGeom>
          <a:noFill/>
        </p:spPr>
        <p:txBody>
          <a:bodyPr wrap="square" rtlCol="0">
            <a:spAutoFit/>
          </a:bodyPr>
          <a:lstStyle/>
          <a:p>
            <a:r>
              <a:rPr lang="en-US" i="1" dirty="0"/>
              <a:t>We will only cover these types, but there’s also False Omission rate and False Discovery Rate</a:t>
            </a:r>
          </a:p>
        </p:txBody>
      </p:sp>
    </p:spTree>
    <p:extLst>
      <p:ext uri="{BB962C8B-B14F-4D97-AF65-F5344CB8AC3E}">
        <p14:creationId xmlns:p14="http://schemas.microsoft.com/office/powerpoint/2010/main" val="2056246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26A764A-615F-501F-198D-3FA8F2AA1721}"/>
              </a:ext>
            </a:extLst>
          </p:cNvPr>
          <p:cNvSpPr txBox="1"/>
          <p:nvPr/>
        </p:nvSpPr>
        <p:spPr>
          <a:xfrm>
            <a:off x="2340864" y="134112"/>
            <a:ext cx="8473440" cy="769441"/>
          </a:xfrm>
          <a:prstGeom prst="rect">
            <a:avLst/>
          </a:prstGeom>
          <a:noFill/>
        </p:spPr>
        <p:txBody>
          <a:bodyPr wrap="square" rtlCol="0">
            <a:spAutoFit/>
          </a:bodyPr>
          <a:lstStyle/>
          <a:p>
            <a:r>
              <a:rPr lang="en-US" sz="2200" b="1" dirty="0"/>
              <a:t>Simplifying the fairness constraints to make them a Discipline Convex Concave Program (DCCP)</a:t>
            </a:r>
          </a:p>
        </p:txBody>
      </p:sp>
      <p:sp>
        <p:nvSpPr>
          <p:cNvPr id="6" name="TextBox 5">
            <a:extLst>
              <a:ext uri="{FF2B5EF4-FFF2-40B4-BE49-F238E27FC236}">
                <a16:creationId xmlns:a16="http://schemas.microsoft.com/office/drawing/2014/main" id="{5DFF87F6-E2E6-33D5-2B9D-C51184008468}"/>
              </a:ext>
            </a:extLst>
          </p:cNvPr>
          <p:cNvSpPr txBox="1"/>
          <p:nvPr/>
        </p:nvSpPr>
        <p:spPr>
          <a:xfrm>
            <a:off x="2157984" y="1072896"/>
            <a:ext cx="8656320" cy="1200329"/>
          </a:xfrm>
          <a:prstGeom prst="rect">
            <a:avLst/>
          </a:prstGeom>
          <a:noFill/>
        </p:spPr>
        <p:txBody>
          <a:bodyPr wrap="square" rtlCol="0">
            <a:spAutoFit/>
          </a:bodyPr>
          <a:lstStyle/>
          <a:p>
            <a:r>
              <a:rPr lang="en-US" dirty="0"/>
              <a:t>- Step 1: Measure disparate mistreatment using the covariance between the users’ sensitive attribute values (z), and the signed distance between the feature vectors of misclassified users and the decision boundary g(</a:t>
            </a:r>
            <a:r>
              <a:rPr lang="en-US" dirty="0" err="1"/>
              <a:t>y,x</a:t>
            </a:r>
            <a:r>
              <a:rPr lang="en-US" dirty="0"/>
              <a:t>)</a:t>
            </a:r>
          </a:p>
          <a:p>
            <a:endParaRPr lang="en-US" dirty="0"/>
          </a:p>
        </p:txBody>
      </p:sp>
      <p:pic>
        <p:nvPicPr>
          <p:cNvPr id="15" name="Picture 14">
            <a:extLst>
              <a:ext uri="{FF2B5EF4-FFF2-40B4-BE49-F238E27FC236}">
                <a16:creationId xmlns:a16="http://schemas.microsoft.com/office/drawing/2014/main" id="{3E9DA535-F530-3162-3AAF-AE3CC7FF4FCD}"/>
              </a:ext>
            </a:extLst>
          </p:cNvPr>
          <p:cNvPicPr>
            <a:picLocks noChangeAspect="1"/>
          </p:cNvPicPr>
          <p:nvPr/>
        </p:nvPicPr>
        <p:blipFill>
          <a:blip r:embed="rId2"/>
          <a:stretch>
            <a:fillRect/>
          </a:stretch>
        </p:blipFill>
        <p:spPr>
          <a:xfrm>
            <a:off x="1481219" y="2273225"/>
            <a:ext cx="9743922" cy="939655"/>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6073FCA-147A-0464-D007-06B17E050597}"/>
                  </a:ext>
                </a:extLst>
              </p:cNvPr>
              <p:cNvSpPr txBox="1"/>
              <p:nvPr/>
            </p:nvSpPr>
            <p:spPr>
              <a:xfrm>
                <a:off x="2157984" y="2893211"/>
                <a:ext cx="6101442" cy="3378682"/>
              </a:xfrm>
              <a:prstGeom prst="rect">
                <a:avLst/>
              </a:prstGeom>
              <a:noFill/>
            </p:spPr>
            <p:txBody>
              <a:bodyPr wrap="square">
                <a:spAutoFit/>
              </a:bodyPr>
              <a:lstStyle/>
              <a:p>
                <a:pPr marL="0" marR="0" algn="just">
                  <a:lnSpc>
                    <a:spcPct val="107000"/>
                  </a:lnSpc>
                  <a:spcBef>
                    <a:spcPts val="0"/>
                  </a:spcBef>
                  <a:spcAft>
                    <a:spcPts val="800"/>
                  </a:spcAft>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ea typeface="Times New Roman" panose="02020603050405020304" pitchFamily="18" charset="0"/>
                    <a:cs typeface="Times New Roman" panose="02020603050405020304" pitchFamily="18" charset="0"/>
                  </a:rPr>
                  <a:t> </a:t>
                </a:r>
                <a14:m>
                  <m:oMath xmlns:m="http://schemas.openxmlformats.org/officeDocument/2006/math">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𝑶𝑴𝑹</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𝑔</m:t>
                        </m:r>
                      </m:e>
                      <m:sub>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θ</m:t>
                        </m:r>
                      </m:sub>
                    </m:s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min</m:t>
                        </m:r>
                      </m:fName>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m:t>
                                </m:r>
                              </m:e>
                              <m:sub>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θ</m:t>
                                </m:r>
                              </m:sub>
                            </m:s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e>
                            </m:d>
                          </m:e>
                        </m:d>
                      </m:e>
                    </m:func>
                  </m:oMath>
                </a14:m>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ea typeface="Times New Roman" panose="02020603050405020304" pitchFamily="18" charset="0"/>
                    <a:cs typeface="Times New Roman" panose="02020603050405020304" pitchFamily="18" charset="0"/>
                  </a:rPr>
                  <a:t> </a:t>
                </a:r>
                <a14:m>
                  <m:oMath xmlns:m="http://schemas.openxmlformats.org/officeDocument/2006/math">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𝑭𝑷𝑹</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𝑔</m:t>
                        </m:r>
                      </m:e>
                      <m:sub>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θ</m:t>
                        </m:r>
                      </m:sub>
                    </m:s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min</m:t>
                        </m:r>
                      </m:fName>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m:t>
                                </m:r>
                              </m:e>
                              <m:sub>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θ</m:t>
                                </m:r>
                              </m:sub>
                            </m:s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e>
                            </m:d>
                          </m:e>
                        </m:d>
                      </m:e>
                    </m:func>
                  </m:oMath>
                </a14:m>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b="0" dirty="0">
                    <a:effectLst/>
                    <a:ea typeface="Times New Roman" panose="02020603050405020304" pitchFamily="18" charset="0"/>
                    <a:cs typeface="Times New Roman" panose="02020603050405020304" pitchFamily="18" charset="0"/>
                  </a:rPr>
                  <a:t> </a:t>
                </a:r>
                <a14:m>
                  <m:oMath xmlns:m="http://schemas.openxmlformats.org/officeDocument/2006/math">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𝑭𝑵𝑹</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𝑔</m:t>
                        </m:r>
                      </m:e>
                      <m:sub>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θ</m:t>
                        </m:r>
                      </m:sub>
                    </m:s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min</m:t>
                        </m:r>
                      </m:fName>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m:t>
                                </m:r>
                              </m:e>
                              <m:sub>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θ</m:t>
                                </m:r>
                              </m:sub>
                            </m:s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e>
                            </m:d>
                          </m:e>
                        </m:d>
                      </m:e>
                    </m:func>
                  </m:oMath>
                </a14:m>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7" name="TextBox 16">
                <a:extLst>
                  <a:ext uri="{FF2B5EF4-FFF2-40B4-BE49-F238E27FC236}">
                    <a16:creationId xmlns:a16="http://schemas.microsoft.com/office/drawing/2014/main" id="{46073FCA-147A-0464-D007-06B17E050597}"/>
                  </a:ext>
                </a:extLst>
              </p:cNvPr>
              <p:cNvSpPr txBox="1">
                <a:spLocks noRot="1" noChangeAspect="1" noMove="1" noResize="1" noEditPoints="1" noAdjustHandles="1" noChangeArrowheads="1" noChangeShapeType="1" noTextEdit="1"/>
              </p:cNvSpPr>
              <p:nvPr/>
            </p:nvSpPr>
            <p:spPr>
              <a:xfrm>
                <a:off x="2157984" y="2893211"/>
                <a:ext cx="6101442" cy="337868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89554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6B85E67-D96A-BE5C-D3B5-B44947C1173A}"/>
                  </a:ext>
                </a:extLst>
              </p:cNvPr>
              <p:cNvSpPr txBox="1"/>
              <p:nvPr/>
            </p:nvSpPr>
            <p:spPr>
              <a:xfrm>
                <a:off x="1907722" y="1179113"/>
                <a:ext cx="8673192" cy="4750596"/>
              </a:xfrm>
              <a:prstGeom prst="rect">
                <a:avLst/>
              </a:prstGeom>
              <a:noFill/>
            </p:spPr>
            <p:txBody>
              <a:bodyPr wrap="square">
                <a:spAutoFit/>
              </a:bodyPr>
              <a:lstStyle/>
              <a:p>
                <a:pPr marL="0" marR="0" algn="ctr">
                  <a:lnSpc>
                    <a:spcPct val="107000"/>
                  </a:lnSpc>
                  <a:spcBef>
                    <a:spcPts val="0"/>
                  </a:spcBef>
                  <a:spcAft>
                    <a:spcPts val="800"/>
                  </a:spcAft>
                </a:pPr>
                <a:r>
                  <a:rPr lang="en-US" sz="1800" dirty="0">
                    <a:effectLst/>
                    <a:ea typeface="Times New Roman" panose="02020603050405020304" pitchFamily="18" charset="0"/>
                    <a:cs typeface="Times New Roman" panose="02020603050405020304" pitchFamily="18" charset="0"/>
                  </a:rPr>
                  <a:t>min</a:t>
                </a:r>
                <a14:m>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t>𝐿</m:t>
                    </m:r>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θ</m:t>
                        </m:r>
                      </m:e>
                    </m:d>
                  </m:oMath>
                </a14:m>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Subject to</a:t>
                </a:r>
                <a:r>
                  <a:rPr lang="en-US" sz="1600" dirty="0">
                    <a:latin typeface="Calibri" panose="020F0502020204030204" pitchFamily="34" charset="0"/>
                    <a:ea typeface="Calibri" panose="020F0502020204030204" pitchFamily="34" charset="0"/>
                    <a:cs typeface="Times New Roman" panose="02020603050405020304" pitchFamily="18" charset="0"/>
                  </a:rPr>
                  <a:t>: </a:t>
                </a:r>
              </a:p>
              <a:p>
                <a:pPr marL="0" marR="0" algn="ctr">
                  <a:lnSpc>
                    <a:spcPct val="107000"/>
                  </a:lnSpc>
                  <a:spcBef>
                    <a:spcPts val="0"/>
                  </a:spcBef>
                  <a:spcAft>
                    <a:spcPts val="800"/>
                  </a:spcAft>
                </a:pPr>
                <a:r>
                  <a:rPr lang="en-US" sz="1800" i="1" baseline="30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𝑁</m:t>
                          </m:r>
                        </m:den>
                      </m:f>
                      <m:nary>
                        <m:naryPr>
                          <m:chr m:val="∑"/>
                          <m:supHide m:val="on"/>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naryPr>
                        <m: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𝑧</m:t>
                              </m:r>
                            </m:e>
                          </m:d>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𝐷</m:t>
                          </m:r>
                        </m:sub>
                        <m:sup/>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𝑧</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𝑧</m:t>
                                  </m:r>
                                </m:e>
                              </m:acc>
                            </m:e>
                          </m:d>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𝑔</m:t>
                              </m:r>
                            </m:e>
                            <m:sub>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θ</m:t>
                              </m:r>
                            </m:sub>
                          </m:s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e>
                          </m:d>
                        </m:e>
                      </m:nary>
                      <m:r>
                        <a:rPr lang="en-US" sz="1800" b="0" i="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1800" i="1" baseline="30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𝑁</m:t>
                          </m:r>
                        </m:den>
                      </m:f>
                      <m:nary>
                        <m:naryPr>
                          <m:chr m:val="∑"/>
                          <m:supHide m:val="on"/>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naryPr>
                        <m: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𝑧</m:t>
                              </m:r>
                            </m:e>
                          </m:d>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𝐷</m:t>
                          </m:r>
                        </m:sub>
                        <m:sup/>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𝑧</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𝑧</m:t>
                                  </m:r>
                                </m:e>
                              </m:acc>
                            </m:e>
                          </m:d>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𝑔</m:t>
                              </m:r>
                            </m:e>
                            <m:sub>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θ</m:t>
                              </m:r>
                            </m:sub>
                          </m:s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e>
                          </m:d>
                        </m:e>
                      </m:nary>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96B85E67-D96A-BE5C-D3B5-B44947C1173A}"/>
                  </a:ext>
                </a:extLst>
              </p:cNvPr>
              <p:cNvSpPr txBox="1">
                <a:spLocks noRot="1" noChangeAspect="1" noMove="1" noResize="1" noEditPoints="1" noAdjustHandles="1" noChangeArrowheads="1" noChangeShapeType="1" noTextEdit="1"/>
              </p:cNvSpPr>
              <p:nvPr/>
            </p:nvSpPr>
            <p:spPr>
              <a:xfrm>
                <a:off x="1907722" y="1179113"/>
                <a:ext cx="8673192" cy="4750596"/>
              </a:xfrm>
              <a:prstGeom prst="rect">
                <a:avLst/>
              </a:prstGeom>
              <a:blipFill>
                <a:blip r:embed="rId2"/>
                <a:stretch>
                  <a:fillRect l="-422" t="-641"/>
                </a:stretch>
              </a:blipFill>
            </p:spPr>
            <p:txBody>
              <a:bodyPr/>
              <a:lstStyle/>
              <a:p>
                <a:r>
                  <a:rPr lang="en-US">
                    <a:noFill/>
                  </a:rPr>
                  <a:t> </a:t>
                </a:r>
              </a:p>
            </p:txBody>
          </p:sp>
        </mc:Fallback>
      </mc:AlternateContent>
    </p:spTree>
    <p:extLst>
      <p:ext uri="{BB962C8B-B14F-4D97-AF65-F5344CB8AC3E}">
        <p14:creationId xmlns:p14="http://schemas.microsoft.com/office/powerpoint/2010/main" val="1852410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1DBC9E1-90D9-DB5E-8C8A-D3B1C01C96E9}"/>
                  </a:ext>
                </a:extLst>
              </p:cNvPr>
              <p:cNvSpPr txBox="1"/>
              <p:nvPr/>
            </p:nvSpPr>
            <p:spPr>
              <a:xfrm>
                <a:off x="2159000" y="792480"/>
                <a:ext cx="9042400" cy="3908762"/>
              </a:xfrm>
              <a:prstGeom prst="rect">
                <a:avLst/>
              </a:prstGeom>
              <a:noFill/>
            </p:spPr>
            <p:txBody>
              <a:bodyPr wrap="square" rtlCol="0">
                <a:spAutoFit/>
              </a:bodyPr>
              <a:lstStyle/>
              <a:p>
                <a:r>
                  <a:rPr lang="en-US" sz="2300" dirty="0">
                    <a:latin typeface="Times New Roman" panose="02020603050405020304" pitchFamily="18" charset="0"/>
                    <a:cs typeface="Times New Roman" panose="02020603050405020304" pitchFamily="18" charset="0"/>
                  </a:rPr>
                  <a:t>Step 2: </a:t>
                </a:r>
              </a:p>
              <a:p>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Since z is binary {0,1}, we can split the sum into two terms, one over the subset Do where z=0, and another one over D1 where z = 1. </a:t>
                </a:r>
              </a:p>
              <a:p>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We also define No = |Do| and N1 = |D1| </a:t>
                </a:r>
              </a:p>
              <a:p>
                <a:r>
                  <a:rPr lang="en-US" sz="2300" dirty="0">
                    <a:latin typeface="Times New Roman" panose="02020603050405020304" pitchFamily="18" charset="0"/>
                    <a:cs typeface="Times New Roman" panose="02020603050405020304" pitchFamily="18" charset="0"/>
                  </a:rPr>
                  <a:t>And </a:t>
                </a:r>
                <a14:m>
                  <m:oMath xmlns:m="http://schemas.openxmlformats.org/officeDocument/2006/math">
                    <m:acc>
                      <m:accPr>
                        <m:chr m:val="̅"/>
                        <m:ctrlPr>
                          <a:rPr lang="en-US" sz="2300" i="1" smtClean="0">
                            <a:effectLst/>
                            <a:latin typeface="Cambria Math" panose="02040503050406030204" pitchFamily="18" charset="0"/>
                            <a:ea typeface="Calibri" panose="020F0502020204030204" pitchFamily="34" charset="0"/>
                            <a:cs typeface="Calibri" panose="020F0502020204030204" pitchFamily="34" charset="0"/>
                          </a:rPr>
                        </m:ctrlPr>
                      </m:accPr>
                      <m:e>
                        <m:r>
                          <a:rPr lang="en-US" sz="2300" i="1">
                            <a:effectLst/>
                            <a:latin typeface="Cambria Math" panose="02040503050406030204" pitchFamily="18" charset="0"/>
                            <a:ea typeface="Calibri" panose="020F0502020204030204" pitchFamily="34" charset="0"/>
                            <a:cs typeface="Calibri" panose="020F0502020204030204" pitchFamily="34" charset="0"/>
                          </a:rPr>
                          <m:t>𝑧</m:t>
                        </m:r>
                      </m:e>
                    </m:acc>
                  </m:oMath>
                </a14:m>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 (0*No + 1*N1) / N</a:t>
                </a:r>
              </a:p>
              <a:p>
                <a:endParaRPr lang="en-US" sz="2300" dirty="0">
                  <a:latin typeface="Times New Roman" panose="02020603050405020304" pitchFamily="18" charset="0"/>
                  <a:ea typeface="Calibri" panose="020F0502020204030204" pitchFamily="34" charset="0"/>
                  <a:cs typeface="Times New Roman" panose="02020603050405020304" pitchFamily="18" charset="0"/>
                </a:endParaRPr>
              </a:p>
              <a:p>
                <a:r>
                  <a:rPr lang="en-US" sz="23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 Now, we can write our final logistic regression classifier with </a:t>
                </a:r>
                <a:r>
                  <a:rPr lang="en-US" sz="2300" dirty="0">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imposed fairness. Note that </a:t>
                </a:r>
                <a:r>
                  <a:rPr lang="en-US" sz="2300" i="1" dirty="0">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g</a:t>
                </a:r>
                <a:r>
                  <a:rPr lang="en-US" sz="2300" dirty="0">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US" sz="2300" i="1" dirty="0" err="1">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y,</a:t>
                </a:r>
                <a:r>
                  <a:rPr lang="en-US" sz="2300" b="1" dirty="0" err="1">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x</a:t>
                </a:r>
                <a:r>
                  <a:rPr lang="en-US" sz="2300" dirty="0">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 is convex.</a:t>
                </a:r>
                <a:endParaRPr lang="en-US" sz="23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4" name="TextBox 3">
                <a:extLst>
                  <a:ext uri="{FF2B5EF4-FFF2-40B4-BE49-F238E27FC236}">
                    <a16:creationId xmlns:a16="http://schemas.microsoft.com/office/drawing/2014/main" id="{F1DBC9E1-90D9-DB5E-8C8A-D3B1C01C96E9}"/>
                  </a:ext>
                </a:extLst>
              </p:cNvPr>
              <p:cNvSpPr txBox="1">
                <a:spLocks noRot="1" noChangeAspect="1" noMove="1" noResize="1" noEditPoints="1" noAdjustHandles="1" noChangeArrowheads="1" noChangeShapeType="1" noTextEdit="1"/>
              </p:cNvSpPr>
              <p:nvPr/>
            </p:nvSpPr>
            <p:spPr>
              <a:xfrm>
                <a:off x="2159000" y="792480"/>
                <a:ext cx="9042400" cy="3908762"/>
              </a:xfrm>
              <a:prstGeom prst="rect">
                <a:avLst/>
              </a:prstGeom>
              <a:blipFill>
                <a:blip r:embed="rId2"/>
                <a:stretch>
                  <a:fillRect l="-943" t="-1248"/>
                </a:stretch>
              </a:blipFill>
            </p:spPr>
            <p:txBody>
              <a:bodyPr/>
              <a:lstStyle/>
              <a:p>
                <a:r>
                  <a:rPr lang="en-US">
                    <a:noFill/>
                  </a:rPr>
                  <a:t> </a:t>
                </a:r>
              </a:p>
            </p:txBody>
          </p:sp>
        </mc:Fallback>
      </mc:AlternateContent>
    </p:spTree>
    <p:extLst>
      <p:ext uri="{BB962C8B-B14F-4D97-AF65-F5344CB8AC3E}">
        <p14:creationId xmlns:p14="http://schemas.microsoft.com/office/powerpoint/2010/main" val="4023197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7E9448D-48F3-2D5F-7FD3-DF976578EEFC}"/>
                  </a:ext>
                </a:extLst>
              </p:cNvPr>
              <p:cNvSpPr txBox="1"/>
              <p:nvPr/>
            </p:nvSpPr>
            <p:spPr>
              <a:xfrm>
                <a:off x="2468336" y="341364"/>
                <a:ext cx="6101442" cy="763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minimize</m:t>
                      </m:r>
                      <m:r>
                        <a:rPr lang="en-US" b="0" i="0" smtClean="0">
                          <a:latin typeface="Cambria Math" panose="02040503050406030204" pitchFamily="18" charset="0"/>
                        </a:rPr>
                        <m:t> −</m:t>
                      </m:r>
                      <m:nary>
                        <m:naryPr>
                          <m:chr m:val="∑"/>
                          <m:grow m:val="on"/>
                          <m:subHide m:val="on"/>
                          <m:supHide m:val="on"/>
                          <m:ctrlPr>
                            <a:rPr lang="en-US" i="1">
                              <a:latin typeface="Cambria Math" panose="02040503050406030204" pitchFamily="18" charset="0"/>
                            </a:rPr>
                          </m:ctrlPr>
                        </m:naryPr>
                        <m:sub/>
                        <m:sup/>
                        <m:e>
                          <m:r>
                            <m:rPr>
                              <m:lit/>
                            </m:rPr>
                            <a:rPr lang="en-US" i="0">
                              <a:latin typeface="Cambria Math" panose="02040503050406030204" pitchFamily="18" charset="0"/>
                            </a:rPr>
                            <m:t>_</m:t>
                          </m:r>
                        </m:e>
                      </m:nary>
                      <m:d>
                        <m:dPr>
                          <m:begChr m:val="{"/>
                          <m:endChr m:val="}"/>
                          <m:ctrlPr>
                            <a:rPr lang="en-US" i="1">
                              <a:latin typeface="Cambria Math" panose="02040503050406030204" pitchFamily="18" charset="0"/>
                            </a:rPr>
                          </m:ctrlPr>
                        </m:dPr>
                        <m:e>
                          <m:d>
                            <m:dPr>
                              <m:sepChr m:val=","/>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𝑦</m:t>
                              </m:r>
                            </m:e>
                          </m:d>
                          <m:r>
                            <a:rPr lang="en-US" i="0">
                              <a:latin typeface="Cambria Math" panose="02040503050406030204" pitchFamily="18" charset="0"/>
                            </a:rPr>
                            <m:t> ∈</m:t>
                          </m:r>
                          <m:r>
                            <a:rPr lang="en-US" i="1">
                              <a:latin typeface="Cambria Math" panose="02040503050406030204" pitchFamily="18" charset="0"/>
                            </a:rPr>
                            <m:t>𝐷</m:t>
                          </m:r>
                        </m:e>
                      </m:d>
                      <m:r>
                        <a:rPr lang="en-US" i="0">
                          <a:latin typeface="Cambria Math" panose="02040503050406030204" pitchFamily="18" charset="0"/>
                        </a:rPr>
                        <m:t>  </m:t>
                      </m:r>
                      <m:r>
                        <m:rPr>
                          <m:sty m:val="p"/>
                        </m:rPr>
                        <a:rPr lang="en-US" i="0">
                          <a:latin typeface="Cambria Math" panose="02040503050406030204" pitchFamily="18" charset="0"/>
                        </a:rPr>
                        <m:t>lo</m:t>
                      </m:r>
                      <m:func>
                        <m:funcPr>
                          <m:ctrlPr>
                            <a:rPr lang="en-US" i="1">
                              <a:latin typeface="Cambria Math" panose="02040503050406030204" pitchFamily="18" charset="0"/>
                            </a:rPr>
                          </m:ctrlPr>
                        </m:funcPr>
                        <m:fName>
                          <m:r>
                            <m:rPr>
                              <m:sty m:val="p"/>
                            </m:rPr>
                            <a:rPr lang="en-US" i="0">
                              <a:latin typeface="Cambria Math" panose="02040503050406030204" pitchFamily="18" charset="0"/>
                            </a:rPr>
                            <m:t>g</m:t>
                          </m:r>
                        </m:fName>
                        <m:e>
                          <m:r>
                            <a:rPr lang="en-US" i="1">
                              <a:latin typeface="Cambria Math" panose="02040503050406030204" pitchFamily="18" charset="0"/>
                            </a:rPr>
                            <m:t>𝑝</m:t>
                          </m:r>
                        </m:e>
                      </m:func>
                      <m:d>
                        <m:dPr>
                          <m:ctrlPr>
                            <a:rPr lang="en-US" i="1">
                              <a:latin typeface="Cambria Math" panose="02040503050406030204" pitchFamily="18" charset="0"/>
                            </a:rPr>
                          </m:ctrlPr>
                        </m:dPr>
                        <m:e>
                          <m:r>
                            <a:rPr lang="en-US" i="1">
                              <a:latin typeface="Cambria Math" panose="02040503050406030204" pitchFamily="18" charset="0"/>
                            </a:rPr>
                            <m:t>𝑦</m:t>
                          </m:r>
                        </m:e>
                        <m:e>
                          <m:r>
                            <m:rPr>
                              <m:lit/>
                            </m:rPr>
                            <a:rPr lang="en-US" i="0">
                              <a:latin typeface="Cambria Math" panose="02040503050406030204" pitchFamily="18" charset="0"/>
                            </a:rPr>
                            <m:t>_</m:t>
                          </m:r>
                        </m:e>
                        <m:e>
                          <m:r>
                            <a:rPr lang="en-US" i="1">
                              <a:latin typeface="Cambria Math" panose="02040503050406030204" pitchFamily="18" charset="0"/>
                            </a:rPr>
                            <m:t>𝑖</m:t>
                          </m:r>
                          <m:r>
                            <a:rPr lang="en-US" i="0">
                              <a:latin typeface="Cambria Math" panose="02040503050406030204" pitchFamily="18" charset="0"/>
                            </a:rPr>
                            <m:t>  </m:t>
                          </m:r>
                          <m:r>
                            <a:rPr lang="en-US" i="1">
                              <a:latin typeface="Cambria Math" panose="02040503050406030204" pitchFamily="18" charset="0"/>
                            </a:rPr>
                            <m:t>𝑥</m:t>
                          </m:r>
                          <m:r>
                            <m:rPr>
                              <m:lit/>
                            </m:rPr>
                            <a:rPr lang="en-US" i="0">
                              <a:latin typeface="Cambria Math" panose="02040503050406030204" pitchFamily="18" charset="0"/>
                            </a:rPr>
                            <m:t>_</m:t>
                          </m:r>
                          <m:r>
                            <a:rPr lang="en-US" i="1">
                              <a:latin typeface="Cambria Math" panose="02040503050406030204" pitchFamily="18" charset="0"/>
                            </a:rPr>
                            <m:t>𝑖</m:t>
                          </m:r>
                          <m:r>
                            <a:rPr lang="en-US" i="0">
                              <a:latin typeface="Cambria Math" panose="02040503050406030204" pitchFamily="18" charset="0"/>
                            </a:rPr>
                            <m:t> </m:t>
                          </m:r>
                          <m:r>
                            <m:rPr>
                              <m:sty m:val="p"/>
                            </m:rPr>
                            <a:rPr lang="en-US" i="0">
                              <a:latin typeface="Cambria Math" panose="02040503050406030204" pitchFamily="18" charset="0"/>
                            </a:rPr>
                            <m:t>θ</m:t>
                          </m:r>
                        </m:e>
                      </m:d>
                      <m:r>
                        <a:rPr lang="en-US" i="0">
                          <a:latin typeface="Cambria Math" panose="02040503050406030204" pitchFamily="18" charset="0"/>
                        </a:rPr>
                        <m:t> </m:t>
                      </m:r>
                    </m:oMath>
                  </m:oMathPara>
                </a14:m>
                <a:endParaRPr lang="en-US" dirty="0"/>
              </a:p>
            </p:txBody>
          </p:sp>
        </mc:Choice>
        <mc:Fallback xmlns="">
          <p:sp>
            <p:nvSpPr>
              <p:cNvPr id="9" name="TextBox 8">
                <a:extLst>
                  <a:ext uri="{FF2B5EF4-FFF2-40B4-BE49-F238E27FC236}">
                    <a16:creationId xmlns:a16="http://schemas.microsoft.com/office/drawing/2014/main" id="{57E9448D-48F3-2D5F-7FD3-DF976578EEFC}"/>
                  </a:ext>
                </a:extLst>
              </p:cNvPr>
              <p:cNvSpPr txBox="1">
                <a:spLocks noRot="1" noChangeAspect="1" noMove="1" noResize="1" noEditPoints="1" noAdjustHandles="1" noChangeArrowheads="1" noChangeShapeType="1" noTextEdit="1"/>
              </p:cNvSpPr>
              <p:nvPr/>
            </p:nvSpPr>
            <p:spPr>
              <a:xfrm>
                <a:off x="2468336" y="341364"/>
                <a:ext cx="6101442" cy="76309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7D8C2A25-AA4A-401B-A926-37FCB25027A5}"/>
                  </a:ext>
                </a:extLst>
              </p:cNvPr>
              <p:cNvSpPr txBox="1"/>
              <p:nvPr/>
            </p:nvSpPr>
            <p:spPr>
              <a:xfrm>
                <a:off x="3007179" y="2130660"/>
                <a:ext cx="7856764" cy="6387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mtClean="0">
                          <a:latin typeface="Cambria Math" panose="02040503050406030204" pitchFamily="18" charset="0"/>
                        </a:rPr>
                        <m:t>−</m:t>
                      </m:r>
                      <m:d>
                        <m:dPr>
                          <m:ctrlPr>
                            <a:rPr lang="en-US" i="1">
                              <a:solidFill>
                                <a:srgbClr val="836967"/>
                              </a:solidFill>
                              <a:latin typeface="Cambria Math" panose="02040503050406030204" pitchFamily="18" charset="0"/>
                            </a:rPr>
                          </m:ctrlPr>
                        </m:dPr>
                        <m:e>
                          <m:r>
                            <m:rPr>
                              <m:sty m:val="p"/>
                            </m:rPr>
                            <a:rPr lang="en-US" i="0">
                              <a:latin typeface="Cambria Math" panose="02040503050406030204" pitchFamily="18" charset="0"/>
                            </a:rPr>
                            <m:t>N</m:t>
                          </m:r>
                          <m:f>
                            <m:fPr>
                              <m:type m:val="lin"/>
                              <m:ctrlPr>
                                <a:rPr lang="en-US" i="1">
                                  <a:latin typeface="Cambria Math" panose="02040503050406030204" pitchFamily="18" charset="0"/>
                                </a:rPr>
                              </m:ctrlPr>
                            </m:fPr>
                            <m:num>
                              <m:r>
                                <a:rPr lang="en-US" i="0">
                                  <a:latin typeface="Cambria Math" panose="02040503050406030204" pitchFamily="18" charset="0"/>
                                </a:rPr>
                                <m:t>1</m:t>
                              </m:r>
                            </m:num>
                            <m:den>
                              <m:r>
                                <m:rPr>
                                  <m:sty m:val="p"/>
                                </m:rPr>
                                <a:rPr lang="en-US" i="0">
                                  <a:latin typeface="Cambria Math" panose="02040503050406030204" pitchFamily="18" charset="0"/>
                                </a:rPr>
                                <m:t>N</m:t>
                              </m:r>
                            </m:den>
                          </m:f>
                        </m:e>
                      </m:d>
                      <m:nary>
                        <m:naryPr>
                          <m:chr m:val="∑"/>
                          <m:limLoc m:val="subSup"/>
                          <m:supHide m:val="on"/>
                          <m:ctrlPr>
                            <a:rPr lang="en-US" i="1">
                              <a:latin typeface="Cambria Math" panose="02040503050406030204" pitchFamily="18" charset="0"/>
                            </a:rPr>
                          </m:ctrlPr>
                        </m:naryPr>
                        <m:sub>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𝑦</m:t>
                              </m:r>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0</m:t>
                              </m:r>
                            </m:sub>
                          </m:sSub>
                        </m:sub>
                        <m:sup/>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𝜃</m:t>
                              </m:r>
                            </m:sub>
                          </m:sSub>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𝑥</m:t>
                              </m:r>
                            </m:e>
                          </m:d>
                        </m:e>
                      </m:nary>
                      <m:r>
                        <a:rPr lang="en-US" i="0">
                          <a:latin typeface="Cambria Math" panose="02040503050406030204" pitchFamily="18" charset="0"/>
                        </a:rPr>
                        <m:t>+</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𝑁</m:t>
                          </m:r>
                          <m:f>
                            <m:fPr>
                              <m:type m:val="lin"/>
                              <m:ctrlPr>
                                <a:rPr lang="en-US" i="1">
                                  <a:latin typeface="Cambria Math" panose="02040503050406030204" pitchFamily="18" charset="0"/>
                                </a:rPr>
                              </m:ctrlPr>
                            </m:fPr>
                            <m:num>
                              <m:r>
                                <a:rPr lang="en-US" i="1">
                                  <a:latin typeface="Cambria Math" panose="02040503050406030204" pitchFamily="18" charset="0"/>
                                </a:rPr>
                                <m:t>𝑜</m:t>
                              </m:r>
                            </m:num>
                            <m:den>
                              <m:r>
                                <a:rPr lang="en-US" i="1">
                                  <a:latin typeface="Cambria Math" panose="02040503050406030204" pitchFamily="18" charset="0"/>
                                </a:rPr>
                                <m:t>𝑁</m:t>
                              </m:r>
                            </m:den>
                          </m:f>
                        </m:e>
                      </m:d>
                      <m:nary>
                        <m:naryPr>
                          <m:chr m:val="∑"/>
                          <m:limLoc m:val="subSup"/>
                          <m:supHide m:val="on"/>
                          <m:ctrlPr>
                            <a:rPr lang="en-US" i="1">
                              <a:latin typeface="Cambria Math" panose="02040503050406030204" pitchFamily="18" charset="0"/>
                            </a:rPr>
                          </m:ctrlPr>
                        </m:naryPr>
                        <m:sub>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𝑦</m:t>
                              </m:r>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sub>
                        <m:sup/>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𝜃</m:t>
                              </m:r>
                            </m:sub>
                          </m:sSub>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𝑥</m:t>
                              </m:r>
                            </m:e>
                          </m:d>
                        </m:e>
                      </m:nary>
                      <m:r>
                        <a:rPr lang="en-US" b="0" i="0" smtClean="0">
                          <a:latin typeface="Cambria Math" panose="02040503050406030204" pitchFamily="18" charset="0"/>
                        </a:rPr>
                        <m:t>≤</m:t>
                      </m:r>
                      <m:r>
                        <m:rPr>
                          <m:sty m:val="p"/>
                        </m:rPr>
                        <a:rPr lang="en-US" b="0" i="0" smtClean="0">
                          <a:latin typeface="Cambria Math" panose="02040503050406030204" pitchFamily="18" charset="0"/>
                        </a:rPr>
                        <m:t>c</m:t>
                      </m:r>
                    </m:oMath>
                  </m:oMathPara>
                </a14:m>
                <a:endParaRPr lang="en-US" dirty="0"/>
              </a:p>
            </p:txBody>
          </p:sp>
        </mc:Choice>
        <mc:Fallback xmlns="">
          <p:sp>
            <p:nvSpPr>
              <p:cNvPr id="81" name="TextBox 80">
                <a:extLst>
                  <a:ext uri="{FF2B5EF4-FFF2-40B4-BE49-F238E27FC236}">
                    <a16:creationId xmlns:a16="http://schemas.microsoft.com/office/drawing/2014/main" id="{7D8C2A25-AA4A-401B-A926-37FCB25027A5}"/>
                  </a:ext>
                </a:extLst>
              </p:cNvPr>
              <p:cNvSpPr txBox="1">
                <a:spLocks noRot="1" noChangeAspect="1" noMove="1" noResize="1" noEditPoints="1" noAdjustHandles="1" noChangeArrowheads="1" noChangeShapeType="1" noTextEdit="1"/>
              </p:cNvSpPr>
              <p:nvPr/>
            </p:nvSpPr>
            <p:spPr>
              <a:xfrm>
                <a:off x="3007179" y="2130660"/>
                <a:ext cx="7856764" cy="6387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7DD9FD6E-E655-47DA-99DA-6131FE89C62F}"/>
                  </a:ext>
                </a:extLst>
              </p:cNvPr>
              <p:cNvSpPr txBox="1"/>
              <p:nvPr/>
            </p:nvSpPr>
            <p:spPr>
              <a:xfrm>
                <a:off x="3007179" y="3309258"/>
                <a:ext cx="7856764" cy="6387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mtClean="0">
                          <a:latin typeface="Cambria Math" panose="02040503050406030204" pitchFamily="18" charset="0"/>
                        </a:rPr>
                        <m:t>−</m:t>
                      </m:r>
                      <m:d>
                        <m:dPr>
                          <m:ctrlPr>
                            <a:rPr lang="en-US" i="1">
                              <a:solidFill>
                                <a:srgbClr val="836967"/>
                              </a:solidFill>
                              <a:latin typeface="Cambria Math" panose="02040503050406030204" pitchFamily="18" charset="0"/>
                            </a:rPr>
                          </m:ctrlPr>
                        </m:dPr>
                        <m:e>
                          <m:r>
                            <m:rPr>
                              <m:sty m:val="p"/>
                            </m:rPr>
                            <a:rPr lang="en-US" i="0">
                              <a:latin typeface="Cambria Math" panose="02040503050406030204" pitchFamily="18" charset="0"/>
                            </a:rPr>
                            <m:t>N</m:t>
                          </m:r>
                          <m:f>
                            <m:fPr>
                              <m:type m:val="lin"/>
                              <m:ctrlPr>
                                <a:rPr lang="en-US" i="1">
                                  <a:latin typeface="Cambria Math" panose="02040503050406030204" pitchFamily="18" charset="0"/>
                                </a:rPr>
                              </m:ctrlPr>
                            </m:fPr>
                            <m:num>
                              <m:r>
                                <a:rPr lang="en-US" i="0">
                                  <a:latin typeface="Cambria Math" panose="02040503050406030204" pitchFamily="18" charset="0"/>
                                </a:rPr>
                                <m:t>1</m:t>
                              </m:r>
                            </m:num>
                            <m:den>
                              <m:r>
                                <m:rPr>
                                  <m:sty m:val="p"/>
                                </m:rPr>
                                <a:rPr lang="en-US" i="0">
                                  <a:latin typeface="Cambria Math" panose="02040503050406030204" pitchFamily="18" charset="0"/>
                                </a:rPr>
                                <m:t>N</m:t>
                              </m:r>
                            </m:den>
                          </m:f>
                        </m:e>
                      </m:d>
                      <m:nary>
                        <m:naryPr>
                          <m:chr m:val="∑"/>
                          <m:limLoc m:val="subSup"/>
                          <m:supHide m:val="on"/>
                          <m:ctrlPr>
                            <a:rPr lang="en-US" i="1">
                              <a:latin typeface="Cambria Math" panose="02040503050406030204" pitchFamily="18" charset="0"/>
                            </a:rPr>
                          </m:ctrlPr>
                        </m:naryPr>
                        <m:sub>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𝑦</m:t>
                              </m:r>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0</m:t>
                              </m:r>
                            </m:sub>
                          </m:sSub>
                        </m:sub>
                        <m:sup/>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𝜃</m:t>
                              </m:r>
                            </m:sub>
                          </m:sSub>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𝑥</m:t>
                              </m:r>
                            </m:e>
                          </m:d>
                        </m:e>
                      </m:nary>
                      <m:r>
                        <a:rPr lang="en-US" i="0">
                          <a:latin typeface="Cambria Math" panose="02040503050406030204" pitchFamily="18" charset="0"/>
                        </a:rPr>
                        <m:t>+</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𝑁</m:t>
                          </m:r>
                          <m:f>
                            <m:fPr>
                              <m:type m:val="lin"/>
                              <m:ctrlPr>
                                <a:rPr lang="en-US" i="1">
                                  <a:latin typeface="Cambria Math" panose="02040503050406030204" pitchFamily="18" charset="0"/>
                                </a:rPr>
                              </m:ctrlPr>
                            </m:fPr>
                            <m:num>
                              <m:r>
                                <a:rPr lang="en-US" i="1">
                                  <a:latin typeface="Cambria Math" panose="02040503050406030204" pitchFamily="18" charset="0"/>
                                </a:rPr>
                                <m:t>𝑜</m:t>
                              </m:r>
                            </m:num>
                            <m:den>
                              <m:r>
                                <a:rPr lang="en-US" i="1">
                                  <a:latin typeface="Cambria Math" panose="02040503050406030204" pitchFamily="18" charset="0"/>
                                </a:rPr>
                                <m:t>𝑁</m:t>
                              </m:r>
                            </m:den>
                          </m:f>
                        </m:e>
                      </m:d>
                      <m:nary>
                        <m:naryPr>
                          <m:chr m:val="∑"/>
                          <m:limLoc m:val="subSup"/>
                          <m:supHide m:val="on"/>
                          <m:ctrlPr>
                            <a:rPr lang="en-US" i="1">
                              <a:latin typeface="Cambria Math" panose="02040503050406030204" pitchFamily="18" charset="0"/>
                            </a:rPr>
                          </m:ctrlPr>
                        </m:naryPr>
                        <m:sub>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𝑦</m:t>
                              </m:r>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sub>
                        <m:sup/>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𝜃</m:t>
                              </m:r>
                            </m:sub>
                          </m:sSub>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𝑥</m:t>
                              </m:r>
                            </m:e>
                          </m:d>
                        </m:e>
                      </m:nary>
                      <m:r>
                        <a:rPr lang="en-US" b="0" i="0" smtClean="0">
                          <a:latin typeface="Cambria Math" panose="02040503050406030204" pitchFamily="18" charset="0"/>
                        </a:rPr>
                        <m:t>≥−</m:t>
                      </m:r>
                      <m:r>
                        <m:rPr>
                          <m:sty m:val="p"/>
                        </m:rPr>
                        <a:rPr lang="en-US" b="0" i="0" smtClean="0">
                          <a:latin typeface="Cambria Math" panose="02040503050406030204" pitchFamily="18" charset="0"/>
                        </a:rPr>
                        <m:t>c</m:t>
                      </m:r>
                    </m:oMath>
                  </m:oMathPara>
                </a14:m>
                <a:endParaRPr lang="en-US" dirty="0"/>
              </a:p>
            </p:txBody>
          </p:sp>
        </mc:Choice>
        <mc:Fallback xmlns="">
          <p:sp>
            <p:nvSpPr>
              <p:cNvPr id="82" name="TextBox 81">
                <a:extLst>
                  <a:ext uri="{FF2B5EF4-FFF2-40B4-BE49-F238E27FC236}">
                    <a16:creationId xmlns:a16="http://schemas.microsoft.com/office/drawing/2014/main" id="{7DD9FD6E-E655-47DA-99DA-6131FE89C62F}"/>
                  </a:ext>
                </a:extLst>
              </p:cNvPr>
              <p:cNvSpPr txBox="1">
                <a:spLocks noRot="1" noChangeAspect="1" noMove="1" noResize="1" noEditPoints="1" noAdjustHandles="1" noChangeArrowheads="1" noChangeShapeType="1" noTextEdit="1"/>
              </p:cNvSpPr>
              <p:nvPr/>
            </p:nvSpPr>
            <p:spPr>
              <a:xfrm>
                <a:off x="3007179" y="3309258"/>
                <a:ext cx="7856764" cy="638765"/>
              </a:xfrm>
              <a:prstGeom prst="rect">
                <a:avLst/>
              </a:prstGeom>
              <a:blipFill>
                <a:blip r:embed="rId4"/>
                <a:stretch>
                  <a:fillRect/>
                </a:stretch>
              </a:blipFill>
            </p:spPr>
            <p:txBody>
              <a:bodyPr/>
              <a:lstStyle/>
              <a:p>
                <a:r>
                  <a:rPr lang="en-US">
                    <a:noFill/>
                  </a:rPr>
                  <a:t> </a:t>
                </a:r>
              </a:p>
            </p:txBody>
          </p:sp>
        </mc:Fallback>
      </mc:AlternateContent>
      <p:sp>
        <p:nvSpPr>
          <p:cNvPr id="83" name="TextBox 82">
            <a:extLst>
              <a:ext uri="{FF2B5EF4-FFF2-40B4-BE49-F238E27FC236}">
                <a16:creationId xmlns:a16="http://schemas.microsoft.com/office/drawing/2014/main" id="{A3E34C41-2165-4D8B-BBDC-D4185C8BCF7B}"/>
              </a:ext>
            </a:extLst>
          </p:cNvPr>
          <p:cNvSpPr txBox="1"/>
          <p:nvPr/>
        </p:nvSpPr>
        <p:spPr>
          <a:xfrm>
            <a:off x="3333751" y="1394701"/>
            <a:ext cx="2185306"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Subjected to:</a:t>
            </a:r>
          </a:p>
        </p:txBody>
      </p:sp>
      <p:sp>
        <p:nvSpPr>
          <p:cNvPr id="84" name="TextBox 83">
            <a:extLst>
              <a:ext uri="{FF2B5EF4-FFF2-40B4-BE49-F238E27FC236}">
                <a16:creationId xmlns:a16="http://schemas.microsoft.com/office/drawing/2014/main" id="{FEE8E022-2018-99D5-3CC9-526DE09801A6}"/>
              </a:ext>
            </a:extLst>
          </p:cNvPr>
          <p:cNvSpPr txBox="1"/>
          <p:nvPr/>
        </p:nvSpPr>
        <p:spPr>
          <a:xfrm>
            <a:off x="892629" y="4539343"/>
            <a:ext cx="5301342" cy="646331"/>
          </a:xfrm>
          <a:prstGeom prst="rect">
            <a:avLst/>
          </a:prstGeom>
          <a:noFill/>
        </p:spPr>
        <p:txBody>
          <a:bodyPr wrap="square" rtlCol="0">
            <a:spAutoFit/>
          </a:bodyPr>
          <a:lstStyle/>
          <a:p>
            <a:r>
              <a:rPr lang="en-US" dirty="0"/>
              <a:t>DCCP can be solved by using advances in convex-concave programming. </a:t>
            </a:r>
          </a:p>
        </p:txBody>
      </p:sp>
    </p:spTree>
    <p:extLst>
      <p:ext uri="{BB962C8B-B14F-4D97-AF65-F5344CB8AC3E}">
        <p14:creationId xmlns:p14="http://schemas.microsoft.com/office/powerpoint/2010/main" val="1941267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C5443-812B-92D0-6870-1F942543B7F5}"/>
              </a:ext>
            </a:extLst>
          </p:cNvPr>
          <p:cNvSpPr>
            <a:spLocks noGrp="1"/>
          </p:cNvSpPr>
          <p:nvPr>
            <p:ph type="title"/>
          </p:nvPr>
        </p:nvSpPr>
        <p:spPr>
          <a:xfrm>
            <a:off x="2540000" y="119592"/>
            <a:ext cx="6731000" cy="1325563"/>
          </a:xfrm>
        </p:spPr>
        <p:txBody>
          <a:bodyPr>
            <a:normAutofit fontScale="90000"/>
          </a:bodyPr>
          <a:lstStyle/>
          <a:p>
            <a:r>
              <a:rPr lang="en-US" dirty="0"/>
              <a:t>4- Experiments and Results</a:t>
            </a:r>
            <a:br>
              <a:rPr lang="en-US" dirty="0"/>
            </a:br>
            <a:r>
              <a:rPr lang="en-US" dirty="0"/>
              <a:t>     </a:t>
            </a:r>
            <a:r>
              <a:rPr lang="en-US" sz="3500" i="1" dirty="0"/>
              <a:t>Synthetic Dataset</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2577DCC-8552-1390-B6BD-E7AF6C779324}"/>
                  </a:ext>
                </a:extLst>
              </p:cNvPr>
              <p:cNvSpPr txBox="1"/>
              <p:nvPr/>
            </p:nvSpPr>
            <p:spPr>
              <a:xfrm>
                <a:off x="3396343" y="1772181"/>
                <a:ext cx="72747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i="0">
                                  <a:latin typeface="Cambria Math" panose="02040503050406030204" pitchFamily="18" charset="0"/>
                                </a:rPr>
                                <m:t>≠</m:t>
                              </m:r>
                              <m:r>
                                <a:rPr lang="en-US" sz="2400" i="1">
                                  <a:latin typeface="Cambria Math" panose="02040503050406030204" pitchFamily="18" charset="0"/>
                                </a:rPr>
                                <m:t>𝑦</m:t>
                              </m:r>
                            </m:e>
                            <m:e>
                              <m:r>
                                <a:rPr lang="en-US" sz="2400" i="1">
                                  <a:latin typeface="Cambria Math" panose="02040503050406030204" pitchFamily="18" charset="0"/>
                                </a:rPr>
                                <m:t>𝑧</m:t>
                              </m:r>
                              <m:r>
                                <a:rPr lang="en-US" sz="2400" i="0">
                                  <a:latin typeface="Cambria Math" panose="02040503050406030204" pitchFamily="18" charset="0"/>
                                </a:rPr>
                                <m:t>=0,</m:t>
                              </m:r>
                              <m:r>
                                <a:rPr lang="en-US" sz="2400" i="1">
                                  <a:latin typeface="Cambria Math" panose="02040503050406030204" pitchFamily="18" charset="0"/>
                                </a:rPr>
                                <m:t>𝑦</m:t>
                              </m:r>
                              <m:r>
                                <a:rPr lang="en-US" sz="2400" i="0">
                                  <a:latin typeface="Cambria Math" panose="02040503050406030204" pitchFamily="18" charset="0"/>
                                </a:rPr>
                                <m:t>=</m:t>
                              </m:r>
                              <m:r>
                                <a:rPr lang="en-US" sz="2400" b="0" i="0" smtClean="0">
                                  <a:latin typeface="Cambria Math" panose="02040503050406030204" pitchFamily="18" charset="0"/>
                                </a:rPr>
                                <m:t>−</m:t>
                              </m:r>
                              <m:r>
                                <a:rPr lang="en-US" sz="2400" i="0">
                                  <a:latin typeface="Cambria Math" panose="02040503050406030204" pitchFamily="18" charset="0"/>
                                </a:rPr>
                                <m:t>1</m:t>
                              </m:r>
                            </m:e>
                          </m:d>
                          <m:r>
                            <a:rPr lang="en-US" sz="2400" b="0" i="0" smtClean="0">
                              <a:latin typeface="Cambria Math" panose="02040503050406030204" pitchFamily="18" charset="0"/>
                            </a:rPr>
                            <m:t>−</m:t>
                          </m:r>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i="0">
                                  <a:latin typeface="Cambria Math" panose="02040503050406030204" pitchFamily="18" charset="0"/>
                                </a:rPr>
                                <m:t>≠</m:t>
                              </m:r>
                              <m:r>
                                <a:rPr lang="en-US" sz="2400" i="1">
                                  <a:latin typeface="Cambria Math" panose="02040503050406030204" pitchFamily="18" charset="0"/>
                                </a:rPr>
                                <m:t>𝑦</m:t>
                              </m:r>
                            </m:e>
                            <m:e>
                              <m:r>
                                <a:rPr lang="en-US" sz="2400" i="1">
                                  <a:latin typeface="Cambria Math" panose="02040503050406030204" pitchFamily="18" charset="0"/>
                                </a:rPr>
                                <m:t>𝑧</m:t>
                              </m:r>
                              <m:r>
                                <a:rPr lang="en-US" sz="2400" i="0">
                                  <a:latin typeface="Cambria Math" panose="02040503050406030204" pitchFamily="18" charset="0"/>
                                </a:rPr>
                                <m:t>=1,</m:t>
                              </m:r>
                              <m:r>
                                <a:rPr lang="en-US" sz="2400" i="1">
                                  <a:latin typeface="Cambria Math" panose="02040503050406030204" pitchFamily="18" charset="0"/>
                                </a:rPr>
                                <m:t>𝑦</m:t>
                              </m:r>
                              <m:r>
                                <a:rPr lang="en-US" sz="2400" i="0">
                                  <a:latin typeface="Cambria Math" panose="02040503050406030204" pitchFamily="18" charset="0"/>
                                </a:rPr>
                                <m:t>=</m:t>
                              </m:r>
                              <m:r>
                                <a:rPr lang="en-US" sz="2400" b="0" i="0" smtClean="0">
                                  <a:latin typeface="Cambria Math" panose="02040503050406030204" pitchFamily="18" charset="0"/>
                                </a:rPr>
                                <m:t>−</m:t>
                              </m:r>
                              <m:r>
                                <a:rPr lang="en-US" sz="2400" i="0">
                                  <a:latin typeface="Cambria Math" panose="02040503050406030204" pitchFamily="18" charset="0"/>
                                </a:rPr>
                                <m:t>1</m:t>
                              </m:r>
                            </m:e>
                          </m:d>
                        </m:e>
                      </m:d>
                    </m:oMath>
                  </m:oMathPara>
                </a14:m>
                <a:endParaRPr lang="en-US" sz="2400" dirty="0"/>
              </a:p>
            </p:txBody>
          </p:sp>
        </mc:Choice>
        <mc:Fallback xmlns="">
          <p:sp>
            <p:nvSpPr>
              <p:cNvPr id="4" name="TextBox 3">
                <a:extLst>
                  <a:ext uri="{FF2B5EF4-FFF2-40B4-BE49-F238E27FC236}">
                    <a16:creationId xmlns:a16="http://schemas.microsoft.com/office/drawing/2014/main" id="{72577DCC-8552-1390-B6BD-E7AF6C779324}"/>
                  </a:ext>
                </a:extLst>
              </p:cNvPr>
              <p:cNvSpPr txBox="1">
                <a:spLocks noRot="1" noChangeAspect="1" noMove="1" noResize="1" noEditPoints="1" noAdjustHandles="1" noChangeArrowheads="1" noChangeShapeType="1" noTextEdit="1"/>
              </p:cNvSpPr>
              <p:nvPr/>
            </p:nvSpPr>
            <p:spPr>
              <a:xfrm>
                <a:off x="3396343" y="1772181"/>
                <a:ext cx="7274706" cy="461665"/>
              </a:xfrm>
              <a:prstGeom prst="rect">
                <a:avLst/>
              </a:prstGeom>
              <a:blipFill>
                <a:blip r:embed="rId2"/>
                <a:stretch>
                  <a:fillRect t="-1333" b="-1333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9A2B4FBD-B647-A0A5-D887-4F05215907C5}"/>
              </a:ext>
            </a:extLst>
          </p:cNvPr>
          <p:cNvSpPr txBox="1"/>
          <p:nvPr/>
        </p:nvSpPr>
        <p:spPr>
          <a:xfrm>
            <a:off x="1850572" y="1772181"/>
            <a:ext cx="1632857" cy="461665"/>
          </a:xfrm>
          <a:prstGeom prst="rect">
            <a:avLst/>
          </a:prstGeom>
          <a:noFill/>
        </p:spPr>
        <p:txBody>
          <a:bodyPr wrap="square" rtlCol="0">
            <a:spAutoFit/>
          </a:bodyPr>
          <a:lstStyle/>
          <a:p>
            <a:r>
              <a:rPr lang="en-US" sz="2400" dirty="0">
                <a:latin typeface="Cambria" panose="02040503050406030204" pitchFamily="18" charset="0"/>
                <a:ea typeface="Cambria" panose="02040503050406030204" pitchFamily="18" charset="0"/>
              </a:rPr>
              <a:t>D (FPR)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6213D55-A25D-8D49-17BB-D216ACCC24F8}"/>
                  </a:ext>
                </a:extLst>
              </p:cNvPr>
              <p:cNvSpPr txBox="1"/>
              <p:nvPr/>
            </p:nvSpPr>
            <p:spPr>
              <a:xfrm>
                <a:off x="3396343" y="2564108"/>
                <a:ext cx="72747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i="0">
                                  <a:latin typeface="Cambria Math" panose="02040503050406030204" pitchFamily="18" charset="0"/>
                                </a:rPr>
                                <m:t>≠</m:t>
                              </m:r>
                              <m:r>
                                <a:rPr lang="en-US" sz="2400" i="1">
                                  <a:latin typeface="Cambria Math" panose="02040503050406030204" pitchFamily="18" charset="0"/>
                                </a:rPr>
                                <m:t>𝑦</m:t>
                              </m:r>
                            </m:e>
                            <m:e>
                              <m:r>
                                <a:rPr lang="en-US" sz="2400" i="1">
                                  <a:latin typeface="Cambria Math" panose="02040503050406030204" pitchFamily="18" charset="0"/>
                                </a:rPr>
                                <m:t>𝑧</m:t>
                              </m:r>
                              <m:r>
                                <a:rPr lang="en-US" sz="2400" i="0">
                                  <a:latin typeface="Cambria Math" panose="02040503050406030204" pitchFamily="18" charset="0"/>
                                </a:rPr>
                                <m:t>=0,</m:t>
                              </m:r>
                              <m:r>
                                <a:rPr lang="en-US" sz="2400" i="1">
                                  <a:latin typeface="Cambria Math" panose="02040503050406030204" pitchFamily="18" charset="0"/>
                                </a:rPr>
                                <m:t>𝑦</m:t>
                              </m:r>
                              <m:r>
                                <a:rPr lang="en-US" sz="2400" i="0">
                                  <a:latin typeface="Cambria Math" panose="02040503050406030204" pitchFamily="18" charset="0"/>
                                </a:rPr>
                                <m:t>=1</m:t>
                              </m:r>
                            </m:e>
                          </m:d>
                          <m:r>
                            <a:rPr lang="en-US" sz="2400" b="0" i="0" smtClean="0">
                              <a:latin typeface="Cambria Math" panose="02040503050406030204" pitchFamily="18" charset="0"/>
                            </a:rPr>
                            <m:t>−</m:t>
                          </m:r>
                          <m:r>
                            <a:rPr lang="en-US" sz="2400" i="1">
                              <a:latin typeface="Cambria Math" panose="02040503050406030204" pitchFamily="18" charset="0"/>
                            </a:rPr>
                            <m:t>𝑃</m:t>
                          </m:r>
                          <m:d>
                            <m:dPr>
                              <m:ctrlPr>
                                <a:rPr lang="en-US" sz="2400" i="1">
                                  <a:solidFill>
                                    <a:srgbClr val="836967"/>
                                  </a:solidFill>
                                  <a:latin typeface="Cambria Math" panose="02040503050406030204" pitchFamily="18" charset="0"/>
                                </a:rPr>
                              </m:ctrlPr>
                            </m:d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𝑦</m:t>
                                  </m:r>
                                </m:e>
                              </m:acc>
                              <m:r>
                                <a:rPr lang="en-US" sz="2400" i="0">
                                  <a:latin typeface="Cambria Math" panose="02040503050406030204" pitchFamily="18" charset="0"/>
                                </a:rPr>
                                <m:t>≠</m:t>
                              </m:r>
                              <m:r>
                                <a:rPr lang="en-US" sz="2400" i="1">
                                  <a:latin typeface="Cambria Math" panose="02040503050406030204" pitchFamily="18" charset="0"/>
                                </a:rPr>
                                <m:t>𝑦</m:t>
                              </m:r>
                            </m:e>
                            <m:e>
                              <m:r>
                                <a:rPr lang="en-US" sz="2400" i="1">
                                  <a:latin typeface="Cambria Math" panose="02040503050406030204" pitchFamily="18" charset="0"/>
                                </a:rPr>
                                <m:t>𝑧</m:t>
                              </m:r>
                              <m:r>
                                <a:rPr lang="en-US" sz="2400" i="0">
                                  <a:latin typeface="Cambria Math" panose="02040503050406030204" pitchFamily="18" charset="0"/>
                                </a:rPr>
                                <m:t>=1,</m:t>
                              </m:r>
                              <m:r>
                                <a:rPr lang="en-US" sz="2400" i="1">
                                  <a:latin typeface="Cambria Math" panose="02040503050406030204" pitchFamily="18" charset="0"/>
                                </a:rPr>
                                <m:t>𝑦</m:t>
                              </m:r>
                              <m:r>
                                <a:rPr lang="en-US" sz="2400" i="0">
                                  <a:latin typeface="Cambria Math" panose="02040503050406030204" pitchFamily="18" charset="0"/>
                                </a:rPr>
                                <m:t>=1</m:t>
                              </m:r>
                            </m:e>
                          </m:d>
                        </m:e>
                      </m:d>
                    </m:oMath>
                  </m:oMathPara>
                </a14:m>
                <a:endParaRPr lang="en-US" sz="2400" dirty="0"/>
              </a:p>
            </p:txBody>
          </p:sp>
        </mc:Choice>
        <mc:Fallback xmlns="">
          <p:sp>
            <p:nvSpPr>
              <p:cNvPr id="6" name="TextBox 5">
                <a:extLst>
                  <a:ext uri="{FF2B5EF4-FFF2-40B4-BE49-F238E27FC236}">
                    <a16:creationId xmlns:a16="http://schemas.microsoft.com/office/drawing/2014/main" id="{46213D55-A25D-8D49-17BB-D216ACCC24F8}"/>
                  </a:ext>
                </a:extLst>
              </p:cNvPr>
              <p:cNvSpPr txBox="1">
                <a:spLocks noRot="1" noChangeAspect="1" noMove="1" noResize="1" noEditPoints="1" noAdjustHandles="1" noChangeArrowheads="1" noChangeShapeType="1" noTextEdit="1"/>
              </p:cNvSpPr>
              <p:nvPr/>
            </p:nvSpPr>
            <p:spPr>
              <a:xfrm>
                <a:off x="3396343" y="2564108"/>
                <a:ext cx="7274706" cy="461665"/>
              </a:xfrm>
              <a:prstGeom prst="rect">
                <a:avLst/>
              </a:prstGeom>
              <a:blipFill>
                <a:blip r:embed="rId3"/>
                <a:stretch>
                  <a:fillRect t="-1333" b="-1333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EB7884E-0D0A-4A0C-8B41-3A1DA95C40E2}"/>
              </a:ext>
            </a:extLst>
          </p:cNvPr>
          <p:cNvSpPr txBox="1"/>
          <p:nvPr/>
        </p:nvSpPr>
        <p:spPr>
          <a:xfrm>
            <a:off x="1850572" y="2564108"/>
            <a:ext cx="1632857" cy="461665"/>
          </a:xfrm>
          <a:prstGeom prst="rect">
            <a:avLst/>
          </a:prstGeom>
          <a:noFill/>
        </p:spPr>
        <p:txBody>
          <a:bodyPr wrap="square" rtlCol="0">
            <a:spAutoFit/>
          </a:bodyPr>
          <a:lstStyle/>
          <a:p>
            <a:r>
              <a:rPr lang="en-US" sz="2400" dirty="0">
                <a:latin typeface="Cambria" panose="02040503050406030204" pitchFamily="18" charset="0"/>
                <a:ea typeface="Cambria" panose="02040503050406030204" pitchFamily="18" charset="0"/>
              </a:rPr>
              <a:t>D (FNR) =</a:t>
            </a:r>
          </a:p>
        </p:txBody>
      </p:sp>
      <p:sp>
        <p:nvSpPr>
          <p:cNvPr id="8" name="TextBox 7">
            <a:extLst>
              <a:ext uri="{FF2B5EF4-FFF2-40B4-BE49-F238E27FC236}">
                <a16:creationId xmlns:a16="http://schemas.microsoft.com/office/drawing/2014/main" id="{BC58E742-31FA-305F-FF35-546CFD74D92B}"/>
              </a:ext>
            </a:extLst>
          </p:cNvPr>
          <p:cNvSpPr txBox="1"/>
          <p:nvPr/>
        </p:nvSpPr>
        <p:spPr>
          <a:xfrm>
            <a:off x="1850572" y="3832228"/>
            <a:ext cx="8186057" cy="1477328"/>
          </a:xfrm>
          <a:prstGeom prst="rect">
            <a:avLst/>
          </a:prstGeom>
          <a:noFill/>
        </p:spPr>
        <p:txBody>
          <a:bodyPr wrap="square" rtlCol="0">
            <a:spAutoFit/>
          </a:bodyPr>
          <a:lstStyle/>
          <a:p>
            <a:r>
              <a:rPr lang="en-US" dirty="0"/>
              <a:t>At each experiment, 4 samples (each 2500 points) with different distributions will be generated, and the logistic classifier will be solved first without the fairness constraints to see the new results when imposing them.</a:t>
            </a:r>
          </a:p>
          <a:p>
            <a:endParaRPr lang="en-US" dirty="0"/>
          </a:p>
          <a:p>
            <a:endParaRPr lang="en-US" dirty="0"/>
          </a:p>
        </p:txBody>
      </p:sp>
    </p:spTree>
    <p:extLst>
      <p:ext uri="{BB962C8B-B14F-4D97-AF65-F5344CB8AC3E}">
        <p14:creationId xmlns:p14="http://schemas.microsoft.com/office/powerpoint/2010/main" val="3239055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4D2469-65AB-3E96-DD13-2BE90863F43D}"/>
              </a:ext>
            </a:extLst>
          </p:cNvPr>
          <p:cNvSpPr txBox="1"/>
          <p:nvPr/>
        </p:nvSpPr>
        <p:spPr>
          <a:xfrm>
            <a:off x="0" y="0"/>
            <a:ext cx="8055429" cy="461665"/>
          </a:xfrm>
          <a:prstGeom prst="rect">
            <a:avLst/>
          </a:prstGeom>
          <a:noFill/>
        </p:spPr>
        <p:txBody>
          <a:bodyPr wrap="square" rtlCol="0">
            <a:spAutoFit/>
          </a:bodyPr>
          <a:lstStyle/>
          <a:p>
            <a:r>
              <a:rPr lang="en-US" sz="2400" b="1" dirty="0"/>
              <a:t>1- Removing disparate mistreatment on FPR or FNR </a:t>
            </a:r>
          </a:p>
        </p:txBody>
      </p:sp>
      <p:graphicFrame>
        <p:nvGraphicFramePr>
          <p:cNvPr id="6" name="Table 5">
            <a:extLst>
              <a:ext uri="{FF2B5EF4-FFF2-40B4-BE49-F238E27FC236}">
                <a16:creationId xmlns:a16="http://schemas.microsoft.com/office/drawing/2014/main" id="{57D7C7BC-789A-E6B3-F967-E550DA30BF51}"/>
              </a:ext>
            </a:extLst>
          </p:cNvPr>
          <p:cNvGraphicFramePr>
            <a:graphicFrameLocks noGrp="1"/>
          </p:cNvGraphicFramePr>
          <p:nvPr>
            <p:extLst>
              <p:ext uri="{D42A27DB-BD31-4B8C-83A1-F6EECF244321}">
                <p14:modId xmlns:p14="http://schemas.microsoft.com/office/powerpoint/2010/main" val="99887106"/>
              </p:ext>
            </p:extLst>
          </p:nvPr>
        </p:nvGraphicFramePr>
        <p:xfrm>
          <a:off x="0" y="880960"/>
          <a:ext cx="12192000" cy="5977040"/>
        </p:xfrm>
        <a:graphic>
          <a:graphicData uri="http://schemas.openxmlformats.org/drawingml/2006/table">
            <a:tbl>
              <a:tblPr firstRow="1" bandRow="1">
                <a:tableStyleId>{00A15C55-8517-42AA-B614-E9B94910E393}</a:tableStyleId>
              </a:tblPr>
              <a:tblGrid>
                <a:gridCol w="4064000">
                  <a:extLst>
                    <a:ext uri="{9D8B030D-6E8A-4147-A177-3AD203B41FA5}">
                      <a16:colId xmlns:a16="http://schemas.microsoft.com/office/drawing/2014/main" val="626920639"/>
                    </a:ext>
                  </a:extLst>
                </a:gridCol>
                <a:gridCol w="4064000">
                  <a:extLst>
                    <a:ext uri="{9D8B030D-6E8A-4147-A177-3AD203B41FA5}">
                      <a16:colId xmlns:a16="http://schemas.microsoft.com/office/drawing/2014/main" val="2385004626"/>
                    </a:ext>
                  </a:extLst>
                </a:gridCol>
                <a:gridCol w="4064000">
                  <a:extLst>
                    <a:ext uri="{9D8B030D-6E8A-4147-A177-3AD203B41FA5}">
                      <a16:colId xmlns:a16="http://schemas.microsoft.com/office/drawing/2014/main" val="815404700"/>
                    </a:ext>
                  </a:extLst>
                </a:gridCol>
              </a:tblGrid>
              <a:tr h="1494260">
                <a:tc>
                  <a:txBody>
                    <a:bodyPr/>
                    <a:lstStyle/>
                    <a:p>
                      <a:pPr algn="ctr"/>
                      <a:endParaRPr lang="en-US" dirty="0"/>
                    </a:p>
                  </a:txBody>
                  <a:tcPr/>
                </a:tc>
                <a:tc>
                  <a:txBody>
                    <a:bodyPr/>
                    <a:lstStyle/>
                    <a:p>
                      <a:pPr algn="ctr"/>
                      <a:r>
                        <a:rPr lang="en-US" dirty="0"/>
                        <a:t>Unconstrained Classifier</a:t>
                      </a:r>
                    </a:p>
                  </a:txBody>
                  <a:tcPr/>
                </a:tc>
                <a:tc>
                  <a:txBody>
                    <a:bodyPr/>
                    <a:lstStyle/>
                    <a:p>
                      <a:pPr algn="ctr"/>
                      <a:r>
                        <a:rPr lang="en-US" dirty="0"/>
                        <a:t>Fairness constraint on FPR</a:t>
                      </a:r>
                    </a:p>
                  </a:txBody>
                  <a:tcPr/>
                </a:tc>
                <a:extLst>
                  <a:ext uri="{0D108BD9-81ED-4DB2-BD59-A6C34878D82A}">
                    <a16:rowId xmlns:a16="http://schemas.microsoft.com/office/drawing/2014/main" val="1367843150"/>
                  </a:ext>
                </a:extLst>
              </a:tr>
              <a:tr h="1494260">
                <a:tc>
                  <a:txBody>
                    <a:bodyPr/>
                    <a:lstStyle/>
                    <a:p>
                      <a:pPr algn="ctr"/>
                      <a:r>
                        <a:rPr lang="en-US" dirty="0"/>
                        <a:t>Accuracy </a:t>
                      </a:r>
                    </a:p>
                  </a:txBody>
                  <a:tcPr/>
                </a:tc>
                <a:tc>
                  <a:txBody>
                    <a:bodyPr/>
                    <a:lstStyle/>
                    <a:p>
                      <a:pPr algn="ctr"/>
                      <a:r>
                        <a:rPr lang="en-US" dirty="0"/>
                        <a:t>0.85</a:t>
                      </a:r>
                    </a:p>
                  </a:txBody>
                  <a:tcPr/>
                </a:tc>
                <a:tc>
                  <a:txBody>
                    <a:bodyPr/>
                    <a:lstStyle/>
                    <a:p>
                      <a:pPr algn="ctr"/>
                      <a:r>
                        <a:rPr lang="en-US" dirty="0"/>
                        <a:t>0.8</a:t>
                      </a:r>
                    </a:p>
                  </a:txBody>
                  <a:tcPr/>
                </a:tc>
                <a:extLst>
                  <a:ext uri="{0D108BD9-81ED-4DB2-BD59-A6C34878D82A}">
                    <a16:rowId xmlns:a16="http://schemas.microsoft.com/office/drawing/2014/main" val="954494372"/>
                  </a:ext>
                </a:extLst>
              </a:tr>
              <a:tr h="1494260">
                <a:tc>
                  <a:txBody>
                    <a:bodyPr/>
                    <a:lstStyle/>
                    <a:p>
                      <a:pPr algn="ctr"/>
                      <a:r>
                        <a:rPr lang="en-US" dirty="0"/>
                        <a:t>D (FPR)</a:t>
                      </a:r>
                    </a:p>
                  </a:txBody>
                  <a:tcPr/>
                </a:tc>
                <a:tc>
                  <a:txBody>
                    <a:bodyPr/>
                    <a:lstStyle/>
                    <a:p>
                      <a:pPr algn="ctr"/>
                      <a:r>
                        <a:rPr lang="en-US" dirty="0"/>
                        <a:t>0.19</a:t>
                      </a:r>
                    </a:p>
                  </a:txBody>
                  <a:tcPr/>
                </a:tc>
                <a:tc>
                  <a:txBody>
                    <a:bodyPr/>
                    <a:lstStyle/>
                    <a:p>
                      <a:pPr algn="ctr"/>
                      <a:r>
                        <a:rPr lang="en-US" dirty="0"/>
                        <a:t>0.02</a:t>
                      </a:r>
                    </a:p>
                  </a:txBody>
                  <a:tcPr/>
                </a:tc>
                <a:extLst>
                  <a:ext uri="{0D108BD9-81ED-4DB2-BD59-A6C34878D82A}">
                    <a16:rowId xmlns:a16="http://schemas.microsoft.com/office/drawing/2014/main" val="1181883411"/>
                  </a:ext>
                </a:extLst>
              </a:tr>
              <a:tr h="1494260">
                <a:tc>
                  <a:txBody>
                    <a:bodyPr/>
                    <a:lstStyle/>
                    <a:p>
                      <a:pPr algn="ctr"/>
                      <a:r>
                        <a:rPr lang="en-US" dirty="0"/>
                        <a:t>D (FNR)</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909146709"/>
                  </a:ext>
                </a:extLst>
              </a:tr>
            </a:tbl>
          </a:graphicData>
        </a:graphic>
      </p:graphicFrame>
    </p:spTree>
    <p:extLst>
      <p:ext uri="{BB962C8B-B14F-4D97-AF65-F5344CB8AC3E}">
        <p14:creationId xmlns:p14="http://schemas.microsoft.com/office/powerpoint/2010/main" val="3803686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F4F3BF-17EB-E07E-6A73-8AB3CF2A2186}"/>
              </a:ext>
            </a:extLst>
          </p:cNvPr>
          <p:cNvSpPr txBox="1"/>
          <p:nvPr/>
        </p:nvSpPr>
        <p:spPr>
          <a:xfrm>
            <a:off x="0" y="-20749"/>
            <a:ext cx="8501743" cy="461665"/>
          </a:xfrm>
          <a:prstGeom prst="rect">
            <a:avLst/>
          </a:prstGeom>
          <a:noFill/>
        </p:spPr>
        <p:txBody>
          <a:bodyPr wrap="square" rtlCol="0">
            <a:spAutoFit/>
          </a:bodyPr>
          <a:lstStyle/>
          <a:p>
            <a:r>
              <a:rPr lang="en-US" sz="2400" b="1" dirty="0"/>
              <a:t>2) Removing Disparate mistreatment on both FPR &amp; FNR</a:t>
            </a:r>
          </a:p>
        </p:txBody>
      </p:sp>
      <p:sp>
        <p:nvSpPr>
          <p:cNvPr id="5" name="TextBox 4">
            <a:extLst>
              <a:ext uri="{FF2B5EF4-FFF2-40B4-BE49-F238E27FC236}">
                <a16:creationId xmlns:a16="http://schemas.microsoft.com/office/drawing/2014/main" id="{31CE21F6-48FE-5E7D-BC5C-B16C2067CB32}"/>
              </a:ext>
            </a:extLst>
          </p:cNvPr>
          <p:cNvSpPr txBox="1"/>
          <p:nvPr/>
        </p:nvSpPr>
        <p:spPr>
          <a:xfrm>
            <a:off x="0" y="397612"/>
            <a:ext cx="5040087" cy="369332"/>
          </a:xfrm>
          <a:prstGeom prst="rect">
            <a:avLst/>
          </a:prstGeom>
          <a:noFill/>
        </p:spPr>
        <p:txBody>
          <a:bodyPr wrap="square" rtlCol="0">
            <a:spAutoFit/>
          </a:bodyPr>
          <a:lstStyle/>
          <a:p>
            <a:r>
              <a:rPr lang="en-US" dirty="0"/>
              <a:t>Case 1 – D (FPR) &amp; D( FNR) have opposite signs </a:t>
            </a:r>
          </a:p>
        </p:txBody>
      </p:sp>
      <p:graphicFrame>
        <p:nvGraphicFramePr>
          <p:cNvPr id="7" name="Table 6">
            <a:extLst>
              <a:ext uri="{FF2B5EF4-FFF2-40B4-BE49-F238E27FC236}">
                <a16:creationId xmlns:a16="http://schemas.microsoft.com/office/drawing/2014/main" id="{2D715B9E-88C2-E416-EC23-A864B4B27ACA}"/>
              </a:ext>
            </a:extLst>
          </p:cNvPr>
          <p:cNvGraphicFramePr>
            <a:graphicFrameLocks noGrp="1"/>
          </p:cNvGraphicFramePr>
          <p:nvPr>
            <p:extLst>
              <p:ext uri="{D42A27DB-BD31-4B8C-83A1-F6EECF244321}">
                <p14:modId xmlns:p14="http://schemas.microsoft.com/office/powerpoint/2010/main" val="167724767"/>
              </p:ext>
            </p:extLst>
          </p:nvPr>
        </p:nvGraphicFramePr>
        <p:xfrm>
          <a:off x="0" y="1688494"/>
          <a:ext cx="12192000" cy="5169504"/>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98730226"/>
                    </a:ext>
                  </a:extLst>
                </a:gridCol>
                <a:gridCol w="2438400">
                  <a:extLst>
                    <a:ext uri="{9D8B030D-6E8A-4147-A177-3AD203B41FA5}">
                      <a16:colId xmlns:a16="http://schemas.microsoft.com/office/drawing/2014/main" val="1888316627"/>
                    </a:ext>
                  </a:extLst>
                </a:gridCol>
                <a:gridCol w="2438400">
                  <a:extLst>
                    <a:ext uri="{9D8B030D-6E8A-4147-A177-3AD203B41FA5}">
                      <a16:colId xmlns:a16="http://schemas.microsoft.com/office/drawing/2014/main" val="3164499148"/>
                    </a:ext>
                  </a:extLst>
                </a:gridCol>
                <a:gridCol w="2438400">
                  <a:extLst>
                    <a:ext uri="{9D8B030D-6E8A-4147-A177-3AD203B41FA5}">
                      <a16:colId xmlns:a16="http://schemas.microsoft.com/office/drawing/2014/main" val="2777097939"/>
                    </a:ext>
                  </a:extLst>
                </a:gridCol>
                <a:gridCol w="2438400">
                  <a:extLst>
                    <a:ext uri="{9D8B030D-6E8A-4147-A177-3AD203B41FA5}">
                      <a16:colId xmlns:a16="http://schemas.microsoft.com/office/drawing/2014/main" val="2881678465"/>
                    </a:ext>
                  </a:extLst>
                </a:gridCol>
              </a:tblGrid>
              <a:tr h="1292376">
                <a:tc>
                  <a:txBody>
                    <a:bodyPr/>
                    <a:lstStyle/>
                    <a:p>
                      <a:pPr algn="ctr"/>
                      <a:endParaRPr lang="en-US" dirty="0"/>
                    </a:p>
                  </a:txBody>
                  <a:tcPr/>
                </a:tc>
                <a:tc>
                  <a:txBody>
                    <a:bodyPr/>
                    <a:lstStyle/>
                    <a:p>
                      <a:pPr algn="ctr"/>
                      <a:r>
                        <a:rPr lang="en-US" dirty="0"/>
                        <a:t>Unconstrained</a:t>
                      </a:r>
                    </a:p>
                  </a:txBody>
                  <a:tcPr/>
                </a:tc>
                <a:tc>
                  <a:txBody>
                    <a:bodyPr/>
                    <a:lstStyle/>
                    <a:p>
                      <a:pPr algn="ctr"/>
                      <a:r>
                        <a:rPr lang="en-US" dirty="0"/>
                        <a:t>Fairness on FPR</a:t>
                      </a:r>
                    </a:p>
                  </a:txBody>
                  <a:tcPr/>
                </a:tc>
                <a:tc>
                  <a:txBody>
                    <a:bodyPr/>
                    <a:lstStyle/>
                    <a:p>
                      <a:pPr algn="ctr"/>
                      <a:r>
                        <a:rPr lang="en-US" dirty="0"/>
                        <a:t>Fairness on FNR</a:t>
                      </a:r>
                    </a:p>
                  </a:txBody>
                  <a:tcPr/>
                </a:tc>
                <a:tc>
                  <a:txBody>
                    <a:bodyPr/>
                    <a:lstStyle/>
                    <a:p>
                      <a:pPr algn="ctr"/>
                      <a:r>
                        <a:rPr lang="en-US" dirty="0"/>
                        <a:t>Fairness on both</a:t>
                      </a:r>
                    </a:p>
                  </a:txBody>
                  <a:tcPr/>
                </a:tc>
                <a:extLst>
                  <a:ext uri="{0D108BD9-81ED-4DB2-BD59-A6C34878D82A}">
                    <a16:rowId xmlns:a16="http://schemas.microsoft.com/office/drawing/2014/main" val="2324902899"/>
                  </a:ext>
                </a:extLst>
              </a:tr>
              <a:tr h="1292376">
                <a:tc>
                  <a:txBody>
                    <a:bodyPr/>
                    <a:lstStyle/>
                    <a:p>
                      <a:pPr algn="ctr"/>
                      <a:r>
                        <a:rPr lang="en-US" dirty="0"/>
                        <a:t>Accuracy</a:t>
                      </a:r>
                    </a:p>
                  </a:txBody>
                  <a:tcPr/>
                </a:tc>
                <a:tc>
                  <a:txBody>
                    <a:bodyPr/>
                    <a:lstStyle/>
                    <a:p>
                      <a:pPr algn="ctr"/>
                      <a:r>
                        <a:rPr lang="en-US" dirty="0"/>
                        <a:t>0.78</a:t>
                      </a:r>
                    </a:p>
                  </a:txBody>
                  <a:tcPr/>
                </a:tc>
                <a:tc>
                  <a:txBody>
                    <a:bodyPr/>
                    <a:lstStyle/>
                    <a:p>
                      <a:pPr algn="ctr"/>
                      <a:r>
                        <a:rPr lang="en-US" dirty="0"/>
                        <a:t>0.75</a:t>
                      </a:r>
                    </a:p>
                  </a:txBody>
                  <a:tcPr/>
                </a:tc>
                <a:tc>
                  <a:txBody>
                    <a:bodyPr/>
                    <a:lstStyle/>
                    <a:p>
                      <a:pPr algn="ctr"/>
                      <a:r>
                        <a:rPr lang="en-US" dirty="0"/>
                        <a:t>0.75</a:t>
                      </a:r>
                    </a:p>
                  </a:txBody>
                  <a:tcPr/>
                </a:tc>
                <a:tc>
                  <a:txBody>
                    <a:bodyPr/>
                    <a:lstStyle/>
                    <a:p>
                      <a:pPr algn="ctr"/>
                      <a:r>
                        <a:rPr lang="en-US" dirty="0"/>
                        <a:t>0.75</a:t>
                      </a:r>
                    </a:p>
                  </a:txBody>
                  <a:tcPr/>
                </a:tc>
                <a:extLst>
                  <a:ext uri="{0D108BD9-81ED-4DB2-BD59-A6C34878D82A}">
                    <a16:rowId xmlns:a16="http://schemas.microsoft.com/office/drawing/2014/main" val="3400379583"/>
                  </a:ext>
                </a:extLst>
              </a:tr>
              <a:tr h="1292376">
                <a:tc>
                  <a:txBody>
                    <a:bodyPr/>
                    <a:lstStyle/>
                    <a:p>
                      <a:pPr algn="ctr"/>
                      <a:r>
                        <a:rPr lang="en-US" dirty="0"/>
                        <a:t>D (FPR)</a:t>
                      </a:r>
                    </a:p>
                  </a:txBody>
                  <a:tcPr/>
                </a:tc>
                <a:tc>
                  <a:txBody>
                    <a:bodyPr/>
                    <a:lstStyle/>
                    <a:p>
                      <a:pPr algn="ctr"/>
                      <a:r>
                        <a:rPr lang="en-US" dirty="0"/>
                        <a:t>-0.16</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127181787"/>
                  </a:ext>
                </a:extLst>
              </a:tr>
              <a:tr h="1292376">
                <a:tc>
                  <a:txBody>
                    <a:bodyPr/>
                    <a:lstStyle/>
                    <a:p>
                      <a:pPr algn="ctr"/>
                      <a:r>
                        <a:rPr lang="en-US" dirty="0"/>
                        <a:t>D (FNR)</a:t>
                      </a:r>
                    </a:p>
                  </a:txBody>
                  <a:tcPr/>
                </a:tc>
                <a:tc>
                  <a:txBody>
                    <a:bodyPr/>
                    <a:lstStyle/>
                    <a:p>
                      <a:pPr algn="ctr"/>
                      <a:r>
                        <a:rPr lang="en-US" dirty="0"/>
                        <a:t>0.19</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32953040"/>
                  </a:ext>
                </a:extLst>
              </a:tr>
            </a:tbl>
          </a:graphicData>
        </a:graphic>
      </p:graphicFrame>
      <p:sp>
        <p:nvSpPr>
          <p:cNvPr id="9" name="TextBox 8">
            <a:extLst>
              <a:ext uri="{FF2B5EF4-FFF2-40B4-BE49-F238E27FC236}">
                <a16:creationId xmlns:a16="http://schemas.microsoft.com/office/drawing/2014/main" id="{868DBCC7-8566-D880-3E48-0E48864CABE0}"/>
              </a:ext>
            </a:extLst>
          </p:cNvPr>
          <p:cNvSpPr txBox="1"/>
          <p:nvPr/>
        </p:nvSpPr>
        <p:spPr>
          <a:xfrm>
            <a:off x="6096000" y="394749"/>
            <a:ext cx="6161314" cy="1200329"/>
          </a:xfrm>
          <a:prstGeom prst="rect">
            <a:avLst/>
          </a:prstGeom>
          <a:noFill/>
        </p:spPr>
        <p:txBody>
          <a:bodyPr wrap="square">
            <a:spAutoFit/>
          </a:bodyPr>
          <a:lstStyle/>
          <a:p>
            <a:r>
              <a:rPr lang="en-US" dirty="0"/>
              <a:t>When the decision boundary rotated due to the constraints, misclassified examples with z = 1 move to the negative class as well as well classified examples with z = 1. This caused a decrease in FPR and an increase on FNR</a:t>
            </a:r>
          </a:p>
        </p:txBody>
      </p:sp>
    </p:spTree>
    <p:extLst>
      <p:ext uri="{BB962C8B-B14F-4D97-AF65-F5344CB8AC3E}">
        <p14:creationId xmlns:p14="http://schemas.microsoft.com/office/powerpoint/2010/main" val="84599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5DCB7B-D535-0EE3-7369-D10247015039}"/>
              </a:ext>
            </a:extLst>
          </p:cNvPr>
          <p:cNvSpPr txBox="1"/>
          <p:nvPr/>
        </p:nvSpPr>
        <p:spPr>
          <a:xfrm>
            <a:off x="228598" y="119743"/>
            <a:ext cx="4789715" cy="369332"/>
          </a:xfrm>
          <a:prstGeom prst="rect">
            <a:avLst/>
          </a:prstGeom>
          <a:noFill/>
        </p:spPr>
        <p:txBody>
          <a:bodyPr wrap="square" rtlCol="0">
            <a:spAutoFit/>
          </a:bodyPr>
          <a:lstStyle/>
          <a:p>
            <a:r>
              <a:rPr lang="en-US" dirty="0"/>
              <a:t>Case 2 – D (FPR) and D (FNR) have same sign</a:t>
            </a:r>
          </a:p>
        </p:txBody>
      </p:sp>
      <p:graphicFrame>
        <p:nvGraphicFramePr>
          <p:cNvPr id="5" name="Table 4">
            <a:extLst>
              <a:ext uri="{FF2B5EF4-FFF2-40B4-BE49-F238E27FC236}">
                <a16:creationId xmlns:a16="http://schemas.microsoft.com/office/drawing/2014/main" id="{1F2D8D24-1812-A763-4EA9-F9D58841F887}"/>
              </a:ext>
            </a:extLst>
          </p:cNvPr>
          <p:cNvGraphicFramePr>
            <a:graphicFrameLocks noGrp="1"/>
          </p:cNvGraphicFramePr>
          <p:nvPr>
            <p:extLst>
              <p:ext uri="{D42A27DB-BD31-4B8C-83A1-F6EECF244321}">
                <p14:modId xmlns:p14="http://schemas.microsoft.com/office/powerpoint/2010/main" val="3977137942"/>
              </p:ext>
            </p:extLst>
          </p:nvPr>
        </p:nvGraphicFramePr>
        <p:xfrm>
          <a:off x="0" y="1688494"/>
          <a:ext cx="12192000" cy="5169504"/>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98730226"/>
                    </a:ext>
                  </a:extLst>
                </a:gridCol>
                <a:gridCol w="2438400">
                  <a:extLst>
                    <a:ext uri="{9D8B030D-6E8A-4147-A177-3AD203B41FA5}">
                      <a16:colId xmlns:a16="http://schemas.microsoft.com/office/drawing/2014/main" val="1888316627"/>
                    </a:ext>
                  </a:extLst>
                </a:gridCol>
                <a:gridCol w="2438400">
                  <a:extLst>
                    <a:ext uri="{9D8B030D-6E8A-4147-A177-3AD203B41FA5}">
                      <a16:colId xmlns:a16="http://schemas.microsoft.com/office/drawing/2014/main" val="3164499148"/>
                    </a:ext>
                  </a:extLst>
                </a:gridCol>
                <a:gridCol w="2438400">
                  <a:extLst>
                    <a:ext uri="{9D8B030D-6E8A-4147-A177-3AD203B41FA5}">
                      <a16:colId xmlns:a16="http://schemas.microsoft.com/office/drawing/2014/main" val="2777097939"/>
                    </a:ext>
                  </a:extLst>
                </a:gridCol>
                <a:gridCol w="2438400">
                  <a:extLst>
                    <a:ext uri="{9D8B030D-6E8A-4147-A177-3AD203B41FA5}">
                      <a16:colId xmlns:a16="http://schemas.microsoft.com/office/drawing/2014/main" val="2881678465"/>
                    </a:ext>
                  </a:extLst>
                </a:gridCol>
              </a:tblGrid>
              <a:tr h="1292376">
                <a:tc>
                  <a:txBody>
                    <a:bodyPr/>
                    <a:lstStyle/>
                    <a:p>
                      <a:pPr algn="ctr"/>
                      <a:endParaRPr lang="en-US" dirty="0"/>
                    </a:p>
                  </a:txBody>
                  <a:tcPr/>
                </a:tc>
                <a:tc>
                  <a:txBody>
                    <a:bodyPr/>
                    <a:lstStyle/>
                    <a:p>
                      <a:pPr algn="ctr"/>
                      <a:r>
                        <a:rPr lang="en-US" dirty="0"/>
                        <a:t>Unconstrained</a:t>
                      </a:r>
                    </a:p>
                  </a:txBody>
                  <a:tcPr/>
                </a:tc>
                <a:tc>
                  <a:txBody>
                    <a:bodyPr/>
                    <a:lstStyle/>
                    <a:p>
                      <a:pPr algn="ctr"/>
                      <a:r>
                        <a:rPr lang="en-US" dirty="0"/>
                        <a:t>Fairness on FPR</a:t>
                      </a:r>
                    </a:p>
                  </a:txBody>
                  <a:tcPr/>
                </a:tc>
                <a:tc>
                  <a:txBody>
                    <a:bodyPr/>
                    <a:lstStyle/>
                    <a:p>
                      <a:pPr algn="ctr"/>
                      <a:r>
                        <a:rPr lang="en-US" dirty="0"/>
                        <a:t>Fairness on FNR</a:t>
                      </a:r>
                    </a:p>
                  </a:txBody>
                  <a:tcPr/>
                </a:tc>
                <a:tc>
                  <a:txBody>
                    <a:bodyPr/>
                    <a:lstStyle/>
                    <a:p>
                      <a:pPr algn="ctr"/>
                      <a:r>
                        <a:rPr lang="en-US" dirty="0"/>
                        <a:t>Fairness on both</a:t>
                      </a:r>
                    </a:p>
                  </a:txBody>
                  <a:tcPr/>
                </a:tc>
                <a:extLst>
                  <a:ext uri="{0D108BD9-81ED-4DB2-BD59-A6C34878D82A}">
                    <a16:rowId xmlns:a16="http://schemas.microsoft.com/office/drawing/2014/main" val="2324902899"/>
                  </a:ext>
                </a:extLst>
              </a:tr>
              <a:tr h="1292376">
                <a:tc>
                  <a:txBody>
                    <a:bodyPr/>
                    <a:lstStyle/>
                    <a:p>
                      <a:pPr algn="ctr"/>
                      <a:r>
                        <a:rPr lang="en-US" dirty="0"/>
                        <a:t>Accuracy</a:t>
                      </a:r>
                    </a:p>
                  </a:txBody>
                  <a:tcPr/>
                </a:tc>
                <a:tc>
                  <a:txBody>
                    <a:bodyPr/>
                    <a:lstStyle/>
                    <a:p>
                      <a:pPr algn="ctr"/>
                      <a:r>
                        <a:rPr lang="en-US" dirty="0"/>
                        <a:t>0.8</a:t>
                      </a:r>
                    </a:p>
                  </a:txBody>
                  <a:tcPr/>
                </a:tc>
                <a:tc>
                  <a:txBody>
                    <a:bodyPr/>
                    <a:lstStyle/>
                    <a:p>
                      <a:pPr algn="ctr"/>
                      <a:r>
                        <a:rPr lang="en-US" dirty="0"/>
                        <a:t>0.77</a:t>
                      </a:r>
                    </a:p>
                  </a:txBody>
                  <a:tcPr/>
                </a:tc>
                <a:tc>
                  <a:txBody>
                    <a:bodyPr/>
                    <a:lstStyle/>
                    <a:p>
                      <a:pPr algn="ctr"/>
                      <a:r>
                        <a:rPr lang="en-US" dirty="0"/>
                        <a:t>0.77</a:t>
                      </a:r>
                    </a:p>
                  </a:txBody>
                  <a:tcPr/>
                </a:tc>
                <a:tc>
                  <a:txBody>
                    <a:bodyPr/>
                    <a:lstStyle/>
                    <a:p>
                      <a:pPr algn="ctr"/>
                      <a:r>
                        <a:rPr lang="en-US" dirty="0"/>
                        <a:t>0.69</a:t>
                      </a:r>
                    </a:p>
                  </a:txBody>
                  <a:tcPr/>
                </a:tc>
                <a:extLst>
                  <a:ext uri="{0D108BD9-81ED-4DB2-BD59-A6C34878D82A}">
                    <a16:rowId xmlns:a16="http://schemas.microsoft.com/office/drawing/2014/main" val="3400379583"/>
                  </a:ext>
                </a:extLst>
              </a:tr>
              <a:tr h="1292376">
                <a:tc>
                  <a:txBody>
                    <a:bodyPr/>
                    <a:lstStyle/>
                    <a:p>
                      <a:pPr algn="ctr"/>
                      <a:r>
                        <a:rPr lang="en-US" dirty="0"/>
                        <a:t>D (FPR)</a:t>
                      </a:r>
                    </a:p>
                  </a:txBody>
                  <a:tcPr/>
                </a:tc>
                <a:tc>
                  <a:txBody>
                    <a:bodyPr/>
                    <a:lstStyle/>
                    <a:p>
                      <a:pPr algn="ctr"/>
                      <a:r>
                        <a:rPr lang="en-US" dirty="0"/>
                        <a:t>0.25</a:t>
                      </a:r>
                    </a:p>
                  </a:txBody>
                  <a:tcPr/>
                </a:tc>
                <a:tc>
                  <a:txBody>
                    <a:bodyPr/>
                    <a:lstStyle/>
                    <a:p>
                      <a:pPr algn="ctr"/>
                      <a:r>
                        <a:rPr lang="en-US" dirty="0"/>
                        <a:t>0</a:t>
                      </a:r>
                    </a:p>
                  </a:txBody>
                  <a:tcPr/>
                </a:tc>
                <a:tc>
                  <a:txBody>
                    <a:bodyPr/>
                    <a:lstStyle/>
                    <a:p>
                      <a:pPr algn="ctr"/>
                      <a:r>
                        <a:rPr lang="en-US" dirty="0"/>
                        <a:t>0.56</a:t>
                      </a:r>
                    </a:p>
                  </a:txBody>
                  <a:tcPr/>
                </a:tc>
                <a:tc>
                  <a:txBody>
                    <a:bodyPr/>
                    <a:lstStyle/>
                    <a:p>
                      <a:pPr algn="ctr"/>
                      <a:r>
                        <a:rPr lang="en-US" dirty="0"/>
                        <a:t>0.02</a:t>
                      </a:r>
                    </a:p>
                  </a:txBody>
                  <a:tcPr/>
                </a:tc>
                <a:extLst>
                  <a:ext uri="{0D108BD9-81ED-4DB2-BD59-A6C34878D82A}">
                    <a16:rowId xmlns:a16="http://schemas.microsoft.com/office/drawing/2014/main" val="4127181787"/>
                  </a:ext>
                </a:extLst>
              </a:tr>
              <a:tr h="1292376">
                <a:tc>
                  <a:txBody>
                    <a:bodyPr/>
                    <a:lstStyle/>
                    <a:p>
                      <a:pPr algn="ctr"/>
                      <a:r>
                        <a:rPr lang="en-US" dirty="0"/>
                        <a:t>D (FNR)</a:t>
                      </a:r>
                    </a:p>
                  </a:txBody>
                  <a:tcPr/>
                </a:tc>
                <a:tc>
                  <a:txBody>
                    <a:bodyPr/>
                    <a:lstStyle/>
                    <a:p>
                      <a:pPr algn="ctr"/>
                      <a:r>
                        <a:rPr lang="en-US" dirty="0"/>
                        <a:t>0.14</a:t>
                      </a:r>
                    </a:p>
                  </a:txBody>
                  <a:tcPr/>
                </a:tc>
                <a:tc>
                  <a:txBody>
                    <a:bodyPr/>
                    <a:lstStyle/>
                    <a:p>
                      <a:pPr algn="ctr"/>
                      <a:r>
                        <a:rPr lang="en-US" dirty="0"/>
                        <a:t>0.19</a:t>
                      </a:r>
                    </a:p>
                  </a:txBody>
                  <a:tcPr/>
                </a:tc>
                <a:tc>
                  <a:txBody>
                    <a:bodyPr/>
                    <a:lstStyle/>
                    <a:p>
                      <a:pPr algn="ctr"/>
                      <a:r>
                        <a:rPr lang="en-US" dirty="0"/>
                        <a:t>0.04</a:t>
                      </a:r>
                    </a:p>
                  </a:txBody>
                  <a:tcPr/>
                </a:tc>
                <a:tc>
                  <a:txBody>
                    <a:bodyPr/>
                    <a:lstStyle/>
                    <a:p>
                      <a:pPr algn="ctr"/>
                      <a:r>
                        <a:rPr lang="en-US" dirty="0"/>
                        <a:t>0.03</a:t>
                      </a:r>
                    </a:p>
                  </a:txBody>
                  <a:tcPr/>
                </a:tc>
                <a:extLst>
                  <a:ext uri="{0D108BD9-81ED-4DB2-BD59-A6C34878D82A}">
                    <a16:rowId xmlns:a16="http://schemas.microsoft.com/office/drawing/2014/main" val="4232953040"/>
                  </a:ext>
                </a:extLst>
              </a:tr>
            </a:tbl>
          </a:graphicData>
        </a:graphic>
      </p:graphicFrame>
      <p:sp>
        <p:nvSpPr>
          <p:cNvPr id="7" name="TextBox 6">
            <a:extLst>
              <a:ext uri="{FF2B5EF4-FFF2-40B4-BE49-F238E27FC236}">
                <a16:creationId xmlns:a16="http://schemas.microsoft.com/office/drawing/2014/main" id="{6C53E099-40BD-8007-780B-0BC305683ECF}"/>
              </a:ext>
            </a:extLst>
          </p:cNvPr>
          <p:cNvSpPr txBox="1"/>
          <p:nvPr/>
        </p:nvSpPr>
        <p:spPr>
          <a:xfrm>
            <a:off x="5682342" y="119743"/>
            <a:ext cx="6117770" cy="1200329"/>
          </a:xfrm>
          <a:prstGeom prst="rect">
            <a:avLst/>
          </a:prstGeom>
          <a:noFill/>
        </p:spPr>
        <p:txBody>
          <a:bodyPr wrap="square">
            <a:spAutoFit/>
          </a:bodyPr>
          <a:lstStyle/>
          <a:p>
            <a:r>
              <a:rPr lang="en-US" dirty="0"/>
              <a:t>When the decision boundary rotates to include more well-classified examples with z = 0 in the positive class, it will also move previously well classified negative examples to the positive class, which will increase FPR.</a:t>
            </a:r>
          </a:p>
        </p:txBody>
      </p:sp>
    </p:spTree>
    <p:extLst>
      <p:ext uri="{BB962C8B-B14F-4D97-AF65-F5344CB8AC3E}">
        <p14:creationId xmlns:p14="http://schemas.microsoft.com/office/powerpoint/2010/main" val="4044710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43564-D251-B3B1-7751-BE6A2A2580B6}"/>
              </a:ext>
            </a:extLst>
          </p:cNvPr>
          <p:cNvSpPr>
            <a:spLocks noGrp="1"/>
          </p:cNvSpPr>
          <p:nvPr>
            <p:ph type="title"/>
          </p:nvPr>
        </p:nvSpPr>
        <p:spPr>
          <a:xfrm>
            <a:off x="892629" y="0"/>
            <a:ext cx="8665028" cy="658132"/>
          </a:xfrm>
        </p:spPr>
        <p:txBody>
          <a:bodyPr>
            <a:normAutofit fontScale="90000"/>
          </a:bodyPr>
          <a:lstStyle/>
          <a:p>
            <a:r>
              <a:rPr lang="en-US" dirty="0"/>
              <a:t>		</a:t>
            </a:r>
            <a:r>
              <a:rPr lang="en-US" sz="2800" i="1" dirty="0"/>
              <a:t>Performance Evaluation on a real dataset</a:t>
            </a:r>
            <a:endParaRPr lang="en-US" dirty="0"/>
          </a:p>
        </p:txBody>
      </p:sp>
      <p:sp>
        <p:nvSpPr>
          <p:cNvPr id="5" name="TextBox 4">
            <a:extLst>
              <a:ext uri="{FF2B5EF4-FFF2-40B4-BE49-F238E27FC236}">
                <a16:creationId xmlns:a16="http://schemas.microsoft.com/office/drawing/2014/main" id="{65B748E3-35FC-452F-ECEB-D0A2A12C7772}"/>
              </a:ext>
            </a:extLst>
          </p:cNvPr>
          <p:cNvSpPr txBox="1"/>
          <p:nvPr/>
        </p:nvSpPr>
        <p:spPr>
          <a:xfrm>
            <a:off x="1839686" y="1230085"/>
            <a:ext cx="5791200" cy="3139321"/>
          </a:xfrm>
          <a:prstGeom prst="rect">
            <a:avLst/>
          </a:prstGeom>
          <a:noFill/>
        </p:spPr>
        <p:txBody>
          <a:bodyPr wrap="square" rtlCol="0">
            <a:spAutoFit/>
          </a:bodyPr>
          <a:lstStyle/>
          <a:p>
            <a:r>
              <a:rPr lang="en-US" dirty="0"/>
              <a:t>We will compare:</a:t>
            </a:r>
          </a:p>
          <a:p>
            <a:endParaRPr lang="en-US" dirty="0"/>
          </a:p>
          <a:p>
            <a:r>
              <a:rPr lang="en-US" dirty="0"/>
              <a:t>- Method 1 removing only disparate mistreatment</a:t>
            </a:r>
          </a:p>
          <a:p>
            <a:endParaRPr lang="en-US" dirty="0"/>
          </a:p>
          <a:p>
            <a:r>
              <a:rPr lang="en-US" dirty="0"/>
              <a:t>- Hardt et al. Method</a:t>
            </a:r>
          </a:p>
          <a:p>
            <a:endParaRPr lang="en-US" dirty="0"/>
          </a:p>
          <a:p>
            <a:r>
              <a:rPr lang="en-US" dirty="0"/>
              <a:t>- Baseline: Remove disparate mistreatment by:</a:t>
            </a:r>
          </a:p>
          <a:p>
            <a:r>
              <a:rPr lang="en-US" dirty="0"/>
              <a:t>Running the unfair classifier, selecting the set of misclassified data with higher error, and re-training the model with an increased penalty on this set until </a:t>
            </a:r>
            <a:r>
              <a:rPr lang="en-US" dirty="0" err="1"/>
              <a:t>fariness</a:t>
            </a:r>
            <a:r>
              <a:rPr lang="en-US" dirty="0"/>
              <a:t> is achieved. </a:t>
            </a:r>
          </a:p>
        </p:txBody>
      </p:sp>
    </p:spTree>
    <p:extLst>
      <p:ext uri="{BB962C8B-B14F-4D97-AF65-F5344CB8AC3E}">
        <p14:creationId xmlns:p14="http://schemas.microsoft.com/office/powerpoint/2010/main" val="371518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84B72-7CDF-A482-0B78-582FBE8386A2}"/>
              </a:ext>
            </a:extLst>
          </p:cNvPr>
          <p:cNvSpPr>
            <a:spLocks noGrp="1"/>
          </p:cNvSpPr>
          <p:nvPr>
            <p:ph type="title"/>
          </p:nvPr>
        </p:nvSpPr>
        <p:spPr/>
        <p:txBody>
          <a:bodyPr/>
          <a:lstStyle/>
          <a:p>
            <a:r>
              <a:rPr lang="en-US" dirty="0"/>
              <a:t>Real dataset info</a:t>
            </a:r>
          </a:p>
        </p:txBody>
      </p:sp>
      <p:sp>
        <p:nvSpPr>
          <p:cNvPr id="4" name="TextBox 3">
            <a:extLst>
              <a:ext uri="{FF2B5EF4-FFF2-40B4-BE49-F238E27FC236}">
                <a16:creationId xmlns:a16="http://schemas.microsoft.com/office/drawing/2014/main" id="{3DB8A854-2035-B4DC-3B07-6366E61EE5FB}"/>
              </a:ext>
            </a:extLst>
          </p:cNvPr>
          <p:cNvSpPr txBox="1"/>
          <p:nvPr/>
        </p:nvSpPr>
        <p:spPr>
          <a:xfrm>
            <a:off x="740229" y="2002971"/>
            <a:ext cx="6858000" cy="923330"/>
          </a:xfrm>
          <a:prstGeom prst="rect">
            <a:avLst/>
          </a:prstGeom>
          <a:noFill/>
        </p:spPr>
        <p:txBody>
          <a:bodyPr wrap="square" rtlCol="0">
            <a:spAutoFit/>
          </a:bodyPr>
          <a:lstStyle/>
          <a:p>
            <a:r>
              <a:rPr lang="en-US" dirty="0"/>
              <a:t>- Info on offenders’ demographic features. </a:t>
            </a:r>
          </a:p>
          <a:p>
            <a:r>
              <a:rPr lang="en-US" dirty="0"/>
              <a:t>- Take into account race (black, white).</a:t>
            </a:r>
          </a:p>
          <a:p>
            <a:r>
              <a:rPr lang="en-US" dirty="0"/>
              <a:t>- Use the ground truth to build different logistic classifiers</a:t>
            </a:r>
          </a:p>
        </p:txBody>
      </p:sp>
    </p:spTree>
    <p:extLst>
      <p:ext uri="{BB962C8B-B14F-4D97-AF65-F5344CB8AC3E}">
        <p14:creationId xmlns:p14="http://schemas.microsoft.com/office/powerpoint/2010/main" val="1012065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D4AB8400-39E8-AA85-1AD1-D637342AC510}"/>
              </a:ext>
            </a:extLst>
          </p:cNvPr>
          <p:cNvGraphicFramePr>
            <a:graphicFrameLocks noGrp="1"/>
          </p:cNvGraphicFramePr>
          <p:nvPr>
            <p:extLst>
              <p:ext uri="{D42A27DB-BD31-4B8C-83A1-F6EECF244321}">
                <p14:modId xmlns:p14="http://schemas.microsoft.com/office/powerpoint/2010/main" val="820497274"/>
              </p:ext>
            </p:extLst>
          </p:nvPr>
        </p:nvGraphicFramePr>
        <p:xfrm>
          <a:off x="1204686" y="1"/>
          <a:ext cx="10987314" cy="1005840"/>
        </p:xfrm>
        <a:graphic>
          <a:graphicData uri="http://schemas.openxmlformats.org/drawingml/2006/table">
            <a:tbl>
              <a:tblPr firstRow="1" bandRow="1">
                <a:tableStyleId>{5C22544A-7EE6-4342-B048-85BDC9FD1C3A}</a:tableStyleId>
              </a:tblPr>
              <a:tblGrid>
                <a:gridCol w="3662438">
                  <a:extLst>
                    <a:ext uri="{9D8B030D-6E8A-4147-A177-3AD203B41FA5}">
                      <a16:colId xmlns:a16="http://schemas.microsoft.com/office/drawing/2014/main" val="3677784324"/>
                    </a:ext>
                  </a:extLst>
                </a:gridCol>
                <a:gridCol w="3662438">
                  <a:extLst>
                    <a:ext uri="{9D8B030D-6E8A-4147-A177-3AD203B41FA5}">
                      <a16:colId xmlns:a16="http://schemas.microsoft.com/office/drawing/2014/main" val="1476536631"/>
                    </a:ext>
                  </a:extLst>
                </a:gridCol>
                <a:gridCol w="3662438">
                  <a:extLst>
                    <a:ext uri="{9D8B030D-6E8A-4147-A177-3AD203B41FA5}">
                      <a16:colId xmlns:a16="http://schemas.microsoft.com/office/drawing/2014/main" val="46839098"/>
                    </a:ext>
                  </a:extLst>
                </a:gridCol>
              </a:tblGrid>
              <a:tr h="344382">
                <a:tc>
                  <a:txBody>
                    <a:bodyPr/>
                    <a:lstStyle/>
                    <a:p>
                      <a:r>
                        <a:rPr lang="en-US" dirty="0"/>
                        <a:t>FPR</a:t>
                      </a:r>
                    </a:p>
                  </a:txBody>
                  <a:tcPr/>
                </a:tc>
                <a:tc>
                  <a:txBody>
                    <a:bodyPr/>
                    <a:lstStyle/>
                    <a:p>
                      <a:r>
                        <a:rPr lang="en-US" dirty="0"/>
                        <a:t>FNR</a:t>
                      </a:r>
                    </a:p>
                  </a:txBody>
                  <a:tcPr/>
                </a:tc>
                <a:tc>
                  <a:txBody>
                    <a:bodyPr/>
                    <a:lstStyle/>
                    <a:p>
                      <a:r>
                        <a:rPr lang="en-US" dirty="0"/>
                        <a:t>BOTH CONSTRAINTS</a:t>
                      </a:r>
                    </a:p>
                  </a:txBody>
                  <a:tcPr/>
                </a:tc>
                <a:extLst>
                  <a:ext uri="{0D108BD9-81ED-4DB2-BD59-A6C34878D82A}">
                    <a16:rowId xmlns:a16="http://schemas.microsoft.com/office/drawing/2014/main" val="3549127335"/>
                  </a:ext>
                </a:extLst>
              </a:tr>
              <a:tr h="602669">
                <a:tc>
                  <a:txBody>
                    <a:bodyPr/>
                    <a:lstStyle/>
                    <a:p>
                      <a:r>
                        <a:rPr lang="en-US" dirty="0"/>
                        <a:t>Acc              D(FPR)         D(FNR)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Acc              D(FPR)         D(FNR)</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Acc              D(FPR)         D(FNR)</a:t>
                      </a:r>
                    </a:p>
                    <a:p>
                      <a:endParaRPr lang="en-US" dirty="0"/>
                    </a:p>
                  </a:txBody>
                  <a:tcPr/>
                </a:tc>
                <a:extLst>
                  <a:ext uri="{0D108BD9-81ED-4DB2-BD59-A6C34878D82A}">
                    <a16:rowId xmlns:a16="http://schemas.microsoft.com/office/drawing/2014/main" val="3187530135"/>
                  </a:ext>
                </a:extLst>
              </a:tr>
            </a:tbl>
          </a:graphicData>
        </a:graphic>
      </p:graphicFrame>
      <p:graphicFrame>
        <p:nvGraphicFramePr>
          <p:cNvPr id="10" name="Table 9">
            <a:extLst>
              <a:ext uri="{FF2B5EF4-FFF2-40B4-BE49-F238E27FC236}">
                <a16:creationId xmlns:a16="http://schemas.microsoft.com/office/drawing/2014/main" id="{1B4A236C-B7DF-C44F-0613-C615160ABF71}"/>
              </a:ext>
            </a:extLst>
          </p:cNvPr>
          <p:cNvGraphicFramePr>
            <a:graphicFrameLocks noGrp="1"/>
          </p:cNvGraphicFramePr>
          <p:nvPr>
            <p:extLst>
              <p:ext uri="{D42A27DB-BD31-4B8C-83A1-F6EECF244321}">
                <p14:modId xmlns:p14="http://schemas.microsoft.com/office/powerpoint/2010/main" val="117968657"/>
              </p:ext>
            </p:extLst>
          </p:nvPr>
        </p:nvGraphicFramePr>
        <p:xfrm>
          <a:off x="0" y="1005841"/>
          <a:ext cx="12192000" cy="58521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08918452"/>
                    </a:ext>
                  </a:extLst>
                </a:gridCol>
                <a:gridCol w="1219200">
                  <a:extLst>
                    <a:ext uri="{9D8B030D-6E8A-4147-A177-3AD203B41FA5}">
                      <a16:colId xmlns:a16="http://schemas.microsoft.com/office/drawing/2014/main" val="1540029341"/>
                    </a:ext>
                  </a:extLst>
                </a:gridCol>
                <a:gridCol w="1219200">
                  <a:extLst>
                    <a:ext uri="{9D8B030D-6E8A-4147-A177-3AD203B41FA5}">
                      <a16:colId xmlns:a16="http://schemas.microsoft.com/office/drawing/2014/main" val="3536434915"/>
                    </a:ext>
                  </a:extLst>
                </a:gridCol>
                <a:gridCol w="1219200">
                  <a:extLst>
                    <a:ext uri="{9D8B030D-6E8A-4147-A177-3AD203B41FA5}">
                      <a16:colId xmlns:a16="http://schemas.microsoft.com/office/drawing/2014/main" val="944413192"/>
                    </a:ext>
                  </a:extLst>
                </a:gridCol>
                <a:gridCol w="1219200">
                  <a:extLst>
                    <a:ext uri="{9D8B030D-6E8A-4147-A177-3AD203B41FA5}">
                      <a16:colId xmlns:a16="http://schemas.microsoft.com/office/drawing/2014/main" val="3191881224"/>
                    </a:ext>
                  </a:extLst>
                </a:gridCol>
                <a:gridCol w="1219200">
                  <a:extLst>
                    <a:ext uri="{9D8B030D-6E8A-4147-A177-3AD203B41FA5}">
                      <a16:colId xmlns:a16="http://schemas.microsoft.com/office/drawing/2014/main" val="3489757781"/>
                    </a:ext>
                  </a:extLst>
                </a:gridCol>
                <a:gridCol w="1219200">
                  <a:extLst>
                    <a:ext uri="{9D8B030D-6E8A-4147-A177-3AD203B41FA5}">
                      <a16:colId xmlns:a16="http://schemas.microsoft.com/office/drawing/2014/main" val="1530286854"/>
                    </a:ext>
                  </a:extLst>
                </a:gridCol>
                <a:gridCol w="1219200">
                  <a:extLst>
                    <a:ext uri="{9D8B030D-6E8A-4147-A177-3AD203B41FA5}">
                      <a16:colId xmlns:a16="http://schemas.microsoft.com/office/drawing/2014/main" val="1913338405"/>
                    </a:ext>
                  </a:extLst>
                </a:gridCol>
                <a:gridCol w="1219200">
                  <a:extLst>
                    <a:ext uri="{9D8B030D-6E8A-4147-A177-3AD203B41FA5}">
                      <a16:colId xmlns:a16="http://schemas.microsoft.com/office/drawing/2014/main" val="1956208116"/>
                    </a:ext>
                  </a:extLst>
                </a:gridCol>
                <a:gridCol w="1219200">
                  <a:extLst>
                    <a:ext uri="{9D8B030D-6E8A-4147-A177-3AD203B41FA5}">
                      <a16:colId xmlns:a16="http://schemas.microsoft.com/office/drawing/2014/main" val="1844845052"/>
                    </a:ext>
                  </a:extLst>
                </a:gridCol>
              </a:tblGrid>
              <a:tr h="1463040">
                <a:tc>
                  <a:txBody>
                    <a:bodyPr/>
                    <a:lstStyle/>
                    <a:p>
                      <a:r>
                        <a:rPr lang="en-US" dirty="0"/>
                        <a:t>Unfair</a:t>
                      </a:r>
                    </a:p>
                    <a:p>
                      <a:endParaRPr lang="en-US" dirty="0"/>
                    </a:p>
                    <a:p>
                      <a:r>
                        <a:rPr lang="en-US" dirty="0"/>
                        <a:t>NO FPR</a:t>
                      </a:r>
                    </a:p>
                  </a:txBody>
                  <a:tcPr/>
                </a:tc>
                <a:tc>
                  <a:txBody>
                    <a:bodyPr/>
                    <a:lstStyle/>
                    <a:p>
                      <a:r>
                        <a:rPr lang="en-US" dirty="0"/>
                        <a:t>0.668</a:t>
                      </a:r>
                    </a:p>
                    <a:p>
                      <a:endParaRPr lang="en-US" dirty="0"/>
                    </a:p>
                    <a:p>
                      <a:r>
                        <a:rPr lang="en-US" dirty="0"/>
                        <a:t>NO FPR</a:t>
                      </a:r>
                    </a:p>
                    <a:p>
                      <a:r>
                        <a:rPr lang="en-US" dirty="0"/>
                        <a:t>   CNT</a:t>
                      </a:r>
                    </a:p>
                  </a:txBody>
                  <a:tcPr/>
                </a:tc>
                <a:tc>
                  <a:txBody>
                    <a:bodyPr/>
                    <a:lstStyle/>
                    <a:p>
                      <a:r>
                        <a:rPr lang="en-US" dirty="0"/>
                        <a:t>0.18</a:t>
                      </a:r>
                    </a:p>
                    <a:p>
                      <a:endParaRPr lang="en-US" dirty="0"/>
                    </a:p>
                    <a:p>
                      <a:r>
                        <a:rPr lang="en-US" dirty="0"/>
                        <a:t>NO FPR</a:t>
                      </a:r>
                    </a:p>
                    <a:p>
                      <a:r>
                        <a:rPr lang="en-US" dirty="0"/>
                        <a:t>   CNT</a:t>
                      </a:r>
                    </a:p>
                  </a:txBody>
                  <a:tcPr/>
                </a:tc>
                <a:tc>
                  <a:txBody>
                    <a:bodyPr/>
                    <a:lstStyle/>
                    <a:p>
                      <a:r>
                        <a:rPr lang="en-US" dirty="0"/>
                        <a:t>-0.3</a:t>
                      </a:r>
                    </a:p>
                    <a:p>
                      <a:endParaRPr lang="en-US" dirty="0"/>
                    </a:p>
                    <a:p>
                      <a:r>
                        <a:rPr lang="en-US" dirty="0"/>
                        <a:t>NO FPR</a:t>
                      </a:r>
                    </a:p>
                    <a:p>
                      <a:r>
                        <a:rPr lang="en-US" dirty="0"/>
                        <a:t>  CNT</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4395800"/>
                  </a:ext>
                </a:extLst>
              </a:tr>
              <a:tr h="1463040">
                <a:tc>
                  <a:txBody>
                    <a:bodyPr/>
                    <a:lstStyle/>
                    <a:p>
                      <a:r>
                        <a:rPr lang="en-US" dirty="0"/>
                        <a:t>Method 1</a:t>
                      </a:r>
                    </a:p>
                  </a:txBody>
                  <a:tcPr/>
                </a:tc>
                <a:tc>
                  <a:txBody>
                    <a:bodyPr/>
                    <a:lstStyle/>
                    <a:p>
                      <a:r>
                        <a:rPr lang="en-US" dirty="0"/>
                        <a:t>0.66</a:t>
                      </a:r>
                    </a:p>
                  </a:txBody>
                  <a:tcPr/>
                </a:tc>
                <a:tc>
                  <a:txBody>
                    <a:bodyPr/>
                    <a:lstStyle/>
                    <a:p>
                      <a:r>
                        <a:rPr lang="en-US" dirty="0"/>
                        <a:t>0.06</a:t>
                      </a:r>
                    </a:p>
                  </a:txBody>
                  <a:tcPr/>
                </a:tc>
                <a:tc>
                  <a:txBody>
                    <a:bodyPr/>
                    <a:lstStyle/>
                    <a:p>
                      <a:r>
                        <a:rPr lang="en-US" dirty="0"/>
                        <a:t>-0.14</a:t>
                      </a:r>
                    </a:p>
                  </a:txBody>
                  <a:tcPr/>
                </a:tc>
                <a:tc>
                  <a:txBody>
                    <a:bodyPr/>
                    <a:lstStyle/>
                    <a:p>
                      <a:r>
                        <a:rPr lang="en-US" dirty="0"/>
                        <a:t>0.662</a:t>
                      </a:r>
                    </a:p>
                  </a:txBody>
                  <a:tcPr/>
                </a:tc>
                <a:tc>
                  <a:txBody>
                    <a:bodyPr/>
                    <a:lstStyle/>
                    <a:p>
                      <a:r>
                        <a:rPr lang="en-US" dirty="0"/>
                        <a:t>0.03</a:t>
                      </a:r>
                    </a:p>
                  </a:txBody>
                  <a:tcPr/>
                </a:tc>
                <a:tc>
                  <a:txBody>
                    <a:bodyPr/>
                    <a:lstStyle/>
                    <a:p>
                      <a:r>
                        <a:rPr lang="en-US" dirty="0"/>
                        <a:t>-0.1</a:t>
                      </a:r>
                    </a:p>
                  </a:txBody>
                  <a:tcPr/>
                </a:tc>
                <a:tc>
                  <a:txBody>
                    <a:bodyPr/>
                    <a:lstStyle/>
                    <a:p>
                      <a:r>
                        <a:rPr lang="en-US" dirty="0"/>
                        <a:t>0.661</a:t>
                      </a:r>
                    </a:p>
                  </a:txBody>
                  <a:tcPr/>
                </a:tc>
                <a:tc>
                  <a:txBody>
                    <a:bodyPr/>
                    <a:lstStyle/>
                    <a:p>
                      <a:r>
                        <a:rPr lang="en-US" dirty="0"/>
                        <a:t>0.03</a:t>
                      </a:r>
                    </a:p>
                  </a:txBody>
                  <a:tcPr/>
                </a:tc>
                <a:tc>
                  <a:txBody>
                    <a:bodyPr/>
                    <a:lstStyle/>
                    <a:p>
                      <a:r>
                        <a:rPr lang="en-US" dirty="0"/>
                        <a:t>-0.11</a:t>
                      </a:r>
                    </a:p>
                  </a:txBody>
                  <a:tcPr/>
                </a:tc>
                <a:extLst>
                  <a:ext uri="{0D108BD9-81ED-4DB2-BD59-A6C34878D82A}">
                    <a16:rowId xmlns:a16="http://schemas.microsoft.com/office/drawing/2014/main" val="60367950"/>
                  </a:ext>
                </a:extLst>
              </a:tr>
              <a:tr h="1463040">
                <a:tc>
                  <a:txBody>
                    <a:bodyPr/>
                    <a:lstStyle/>
                    <a:p>
                      <a:r>
                        <a:rPr lang="en-US" dirty="0"/>
                        <a:t>Baseline</a:t>
                      </a:r>
                    </a:p>
                    <a:p>
                      <a:endParaRPr lang="en-US" dirty="0"/>
                    </a:p>
                  </a:txBody>
                  <a:tcPr/>
                </a:tc>
                <a:tc>
                  <a:txBody>
                    <a:bodyPr/>
                    <a:lstStyle/>
                    <a:p>
                      <a:r>
                        <a:rPr lang="en-US" dirty="0"/>
                        <a:t>0.64</a:t>
                      </a:r>
                    </a:p>
                  </a:txBody>
                  <a:tcPr/>
                </a:tc>
                <a:tc>
                  <a:txBody>
                    <a:bodyPr/>
                    <a:lstStyle/>
                    <a:p>
                      <a:r>
                        <a:rPr lang="en-US" dirty="0"/>
                        <a:t>0.03</a:t>
                      </a:r>
                    </a:p>
                  </a:txBody>
                  <a:tcPr/>
                </a:tc>
                <a:tc>
                  <a:txBody>
                    <a:bodyPr/>
                    <a:lstStyle/>
                    <a:p>
                      <a:r>
                        <a:rPr lang="en-US" dirty="0"/>
                        <a:t>-0.11</a:t>
                      </a:r>
                    </a:p>
                  </a:txBody>
                  <a:tcPr/>
                </a:tc>
                <a:tc>
                  <a:txBody>
                    <a:bodyPr/>
                    <a:lstStyle/>
                    <a:p>
                      <a:r>
                        <a:rPr lang="en-US" dirty="0"/>
                        <a:t>0.66</a:t>
                      </a:r>
                    </a:p>
                  </a:txBody>
                  <a:tcPr/>
                </a:tc>
                <a:tc>
                  <a:txBody>
                    <a:bodyPr/>
                    <a:lstStyle/>
                    <a:p>
                      <a:r>
                        <a:rPr lang="en-US" dirty="0"/>
                        <a:t>0.00</a:t>
                      </a:r>
                    </a:p>
                  </a:txBody>
                  <a:tcPr/>
                </a:tc>
                <a:tc>
                  <a:txBody>
                    <a:bodyPr/>
                    <a:lstStyle/>
                    <a:p>
                      <a:r>
                        <a:rPr lang="en-US" dirty="0"/>
                        <a:t>-0.07</a:t>
                      </a:r>
                    </a:p>
                  </a:txBody>
                  <a:tcPr/>
                </a:tc>
                <a:tc>
                  <a:txBody>
                    <a:bodyPr/>
                    <a:lstStyle/>
                    <a:p>
                      <a:r>
                        <a:rPr lang="en-US" dirty="0"/>
                        <a:t>0.660</a:t>
                      </a:r>
                    </a:p>
                  </a:txBody>
                  <a:tcPr/>
                </a:tc>
                <a:tc>
                  <a:txBody>
                    <a:bodyPr/>
                    <a:lstStyle/>
                    <a:p>
                      <a:r>
                        <a:rPr lang="en-US" dirty="0"/>
                        <a:t>0.01</a:t>
                      </a:r>
                    </a:p>
                  </a:txBody>
                  <a:tcPr/>
                </a:tc>
                <a:tc>
                  <a:txBody>
                    <a:bodyPr/>
                    <a:lstStyle/>
                    <a:p>
                      <a:r>
                        <a:rPr lang="en-US" dirty="0"/>
                        <a:t>-0.09</a:t>
                      </a:r>
                    </a:p>
                  </a:txBody>
                  <a:tcPr/>
                </a:tc>
                <a:extLst>
                  <a:ext uri="{0D108BD9-81ED-4DB2-BD59-A6C34878D82A}">
                    <a16:rowId xmlns:a16="http://schemas.microsoft.com/office/drawing/2014/main" val="3034722236"/>
                  </a:ext>
                </a:extLst>
              </a:tr>
              <a:tr h="1463040">
                <a:tc>
                  <a:txBody>
                    <a:bodyPr/>
                    <a:lstStyle/>
                    <a:p>
                      <a:r>
                        <a:rPr lang="en-US" dirty="0"/>
                        <a:t>Hardt</a:t>
                      </a:r>
                    </a:p>
                  </a:txBody>
                  <a:tcPr/>
                </a:tc>
                <a:tc>
                  <a:txBody>
                    <a:bodyPr/>
                    <a:lstStyle/>
                    <a:p>
                      <a:r>
                        <a:rPr lang="en-US" dirty="0"/>
                        <a:t>0.66</a:t>
                      </a:r>
                    </a:p>
                  </a:txBody>
                  <a:tcPr/>
                </a:tc>
                <a:tc>
                  <a:txBody>
                    <a:bodyPr/>
                    <a:lstStyle/>
                    <a:p>
                      <a:r>
                        <a:rPr lang="en-US" dirty="0"/>
                        <a:t>0.02</a:t>
                      </a:r>
                    </a:p>
                  </a:txBody>
                  <a:tcPr/>
                </a:tc>
                <a:tc>
                  <a:txBody>
                    <a:bodyPr/>
                    <a:lstStyle/>
                    <a:p>
                      <a:r>
                        <a:rPr lang="en-US" dirty="0"/>
                        <a:t>-0.08</a:t>
                      </a:r>
                    </a:p>
                  </a:txBody>
                  <a:tcPr/>
                </a:tc>
                <a:tc>
                  <a:txBody>
                    <a:bodyPr/>
                    <a:lstStyle/>
                    <a:p>
                      <a:r>
                        <a:rPr lang="en-US" dirty="0"/>
                        <a:t>0.65</a:t>
                      </a:r>
                    </a:p>
                  </a:txBody>
                  <a:tcPr/>
                </a:tc>
                <a:tc>
                  <a:txBody>
                    <a:bodyPr/>
                    <a:lstStyle/>
                    <a:p>
                      <a:r>
                        <a:rPr lang="en-US" dirty="0"/>
                        <a:t>-0.06</a:t>
                      </a:r>
                    </a:p>
                  </a:txBody>
                  <a:tcPr/>
                </a:tc>
                <a:tc>
                  <a:txBody>
                    <a:bodyPr/>
                    <a:lstStyle/>
                    <a:p>
                      <a:r>
                        <a:rPr lang="en-US" dirty="0"/>
                        <a:t>-0.01</a:t>
                      </a:r>
                    </a:p>
                  </a:txBody>
                  <a:tcPr/>
                </a:tc>
                <a:tc>
                  <a:txBody>
                    <a:bodyPr/>
                    <a:lstStyle/>
                    <a:p>
                      <a:r>
                        <a:rPr lang="en-US" dirty="0"/>
                        <a:t>0.645</a:t>
                      </a:r>
                    </a:p>
                  </a:txBody>
                  <a:tcPr/>
                </a:tc>
                <a:tc>
                  <a:txBody>
                    <a:bodyPr/>
                    <a:lstStyle/>
                    <a:p>
                      <a:r>
                        <a:rPr lang="en-US" dirty="0"/>
                        <a:t>-0.01</a:t>
                      </a:r>
                    </a:p>
                  </a:txBody>
                  <a:tcPr/>
                </a:tc>
                <a:tc>
                  <a:txBody>
                    <a:bodyPr/>
                    <a:lstStyle/>
                    <a:p>
                      <a:r>
                        <a:rPr lang="en-US" dirty="0"/>
                        <a:t>-0.01</a:t>
                      </a:r>
                    </a:p>
                  </a:txBody>
                  <a:tcPr/>
                </a:tc>
                <a:extLst>
                  <a:ext uri="{0D108BD9-81ED-4DB2-BD59-A6C34878D82A}">
                    <a16:rowId xmlns:a16="http://schemas.microsoft.com/office/drawing/2014/main" val="2162135594"/>
                  </a:ext>
                </a:extLst>
              </a:tr>
            </a:tbl>
          </a:graphicData>
        </a:graphic>
      </p:graphicFrame>
    </p:spTree>
    <p:extLst>
      <p:ext uri="{BB962C8B-B14F-4D97-AF65-F5344CB8AC3E}">
        <p14:creationId xmlns:p14="http://schemas.microsoft.com/office/powerpoint/2010/main" val="2601455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EFECB-F7A1-5A45-4917-A39AFD79D154}"/>
              </a:ext>
            </a:extLst>
          </p:cNvPr>
          <p:cNvSpPr>
            <a:spLocks noGrp="1"/>
          </p:cNvSpPr>
          <p:nvPr>
            <p:ph type="title"/>
          </p:nvPr>
        </p:nvSpPr>
        <p:spPr>
          <a:xfrm>
            <a:off x="130629" y="-150769"/>
            <a:ext cx="10515600" cy="1325563"/>
          </a:xfrm>
        </p:spPr>
        <p:txBody>
          <a:bodyPr/>
          <a:lstStyle/>
          <a:p>
            <a:r>
              <a:rPr lang="en-US" dirty="0"/>
              <a:t>Results </a:t>
            </a:r>
          </a:p>
        </p:txBody>
      </p:sp>
      <p:sp>
        <p:nvSpPr>
          <p:cNvPr id="9" name="TextBox 8">
            <a:extLst>
              <a:ext uri="{FF2B5EF4-FFF2-40B4-BE49-F238E27FC236}">
                <a16:creationId xmlns:a16="http://schemas.microsoft.com/office/drawing/2014/main" id="{5CD22A75-8E9C-745F-1479-B3DA7935136C}"/>
              </a:ext>
            </a:extLst>
          </p:cNvPr>
          <p:cNvSpPr txBox="1"/>
          <p:nvPr/>
        </p:nvSpPr>
        <p:spPr>
          <a:xfrm>
            <a:off x="2307772" y="1174794"/>
            <a:ext cx="6161314" cy="1477328"/>
          </a:xfrm>
          <a:prstGeom prst="rect">
            <a:avLst/>
          </a:prstGeom>
          <a:noFill/>
        </p:spPr>
        <p:txBody>
          <a:bodyPr wrap="square">
            <a:spAutoFit/>
          </a:bodyPr>
          <a:lstStyle/>
          <a:p>
            <a:r>
              <a:rPr lang="en-US" dirty="0"/>
              <a:t>For all three </a:t>
            </a:r>
            <a:r>
              <a:rPr lang="en-US" dirty="0" err="1"/>
              <a:t>mehtods</a:t>
            </a:r>
            <a:r>
              <a:rPr lang="en-US" dirty="0"/>
              <a:t>, controlling for disparate mistreatment on false positive rate (false negative rate) also helps decrease disparate mistreatment on false negative rate (false positive rate). Moreover, all three methods are able to achieve similar accuracy for a given level of fairness</a:t>
            </a:r>
          </a:p>
        </p:txBody>
      </p:sp>
      <p:sp>
        <p:nvSpPr>
          <p:cNvPr id="10" name="TextBox 9">
            <a:extLst>
              <a:ext uri="{FF2B5EF4-FFF2-40B4-BE49-F238E27FC236}">
                <a16:creationId xmlns:a16="http://schemas.microsoft.com/office/drawing/2014/main" id="{10AEAAEA-0E49-B351-3EC9-BA1B825807E5}"/>
              </a:ext>
            </a:extLst>
          </p:cNvPr>
          <p:cNvSpPr txBox="1"/>
          <p:nvPr/>
        </p:nvSpPr>
        <p:spPr>
          <a:xfrm>
            <a:off x="2416629" y="3211286"/>
            <a:ext cx="5116285" cy="646331"/>
          </a:xfrm>
          <a:prstGeom prst="rect">
            <a:avLst/>
          </a:prstGeom>
          <a:noFill/>
        </p:spPr>
        <p:txBody>
          <a:bodyPr wrap="square" rtlCol="0">
            <a:spAutoFit/>
          </a:bodyPr>
          <a:lstStyle/>
          <a:p>
            <a:r>
              <a:rPr lang="en-US" dirty="0"/>
              <a:t>Due to the small size, disparate mistreatment isn’t removed completely. </a:t>
            </a:r>
          </a:p>
        </p:txBody>
      </p:sp>
    </p:spTree>
    <p:extLst>
      <p:ext uri="{BB962C8B-B14F-4D97-AF65-F5344CB8AC3E}">
        <p14:creationId xmlns:p14="http://schemas.microsoft.com/office/powerpoint/2010/main" val="2585419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15A66-0E0D-BEE3-4BC7-FB49C27285D5}"/>
              </a:ext>
            </a:extLst>
          </p:cNvPr>
          <p:cNvSpPr>
            <a:spLocks noGrp="1"/>
          </p:cNvSpPr>
          <p:nvPr>
            <p:ph type="title"/>
          </p:nvPr>
        </p:nvSpPr>
        <p:spPr/>
        <p:txBody>
          <a:bodyPr/>
          <a:lstStyle/>
          <a:p>
            <a:r>
              <a:rPr lang="en-US" dirty="0"/>
              <a:t>Relation to class material</a:t>
            </a:r>
          </a:p>
        </p:txBody>
      </p:sp>
      <p:sp>
        <p:nvSpPr>
          <p:cNvPr id="4" name="TextBox 3">
            <a:extLst>
              <a:ext uri="{FF2B5EF4-FFF2-40B4-BE49-F238E27FC236}">
                <a16:creationId xmlns:a16="http://schemas.microsoft.com/office/drawing/2014/main" id="{5AF6A9EE-C00C-B65C-559B-EC4178D604EF}"/>
              </a:ext>
            </a:extLst>
          </p:cNvPr>
          <p:cNvSpPr txBox="1"/>
          <p:nvPr/>
        </p:nvSpPr>
        <p:spPr>
          <a:xfrm>
            <a:off x="2438400" y="1905000"/>
            <a:ext cx="3352800" cy="1200329"/>
          </a:xfrm>
          <a:prstGeom prst="rect">
            <a:avLst/>
          </a:prstGeom>
          <a:noFill/>
        </p:spPr>
        <p:txBody>
          <a:bodyPr wrap="square" rtlCol="0">
            <a:spAutoFit/>
          </a:bodyPr>
          <a:lstStyle/>
          <a:p>
            <a:r>
              <a:rPr lang="en-US" dirty="0"/>
              <a:t>- Constrained Optimization</a:t>
            </a:r>
          </a:p>
          <a:p>
            <a:r>
              <a:rPr lang="en-US" dirty="0"/>
              <a:t>- Convexity</a:t>
            </a:r>
          </a:p>
          <a:p>
            <a:r>
              <a:rPr lang="en-US" dirty="0"/>
              <a:t>- Logistic Regression </a:t>
            </a:r>
          </a:p>
          <a:p>
            <a:endParaRPr lang="en-US" dirty="0"/>
          </a:p>
        </p:txBody>
      </p:sp>
    </p:spTree>
    <p:extLst>
      <p:ext uri="{BB962C8B-B14F-4D97-AF65-F5344CB8AC3E}">
        <p14:creationId xmlns:p14="http://schemas.microsoft.com/office/powerpoint/2010/main" val="356477238"/>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Rockwell"/>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emplate>TM10001114[[fn=Gallery]]</Template>
  <TotalTime>3091</TotalTime>
  <Words>1597</Words>
  <Application>Microsoft Office PowerPoint</Application>
  <PresentationFormat>Widescreen</PresentationFormat>
  <Paragraphs>250</Paragraphs>
  <Slides>23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Avenir Next LT Pro</vt:lpstr>
      <vt:lpstr>AvenirNext LT Pro Medium</vt:lpstr>
      <vt:lpstr>Calibri</vt:lpstr>
      <vt:lpstr>Cambria</vt:lpstr>
      <vt:lpstr>Cambria Math</vt:lpstr>
      <vt:lpstr>Rockwell</vt:lpstr>
      <vt:lpstr>Segoe UI</vt:lpstr>
      <vt:lpstr>Times New Roman</vt:lpstr>
      <vt:lpstr>Wingdings</vt:lpstr>
      <vt:lpstr>ExploreVTI</vt:lpstr>
      <vt:lpstr>PowerPoint Presentation</vt:lpstr>
      <vt:lpstr>PowerPoint Presentation</vt:lpstr>
      <vt:lpstr>OUTLINE</vt:lpstr>
      <vt:lpstr>1- Introduction &amp; Motivation </vt:lpstr>
      <vt:lpstr>PowerPoint Presentation</vt:lpstr>
      <vt:lpstr>PowerPoint Presentation</vt:lpstr>
      <vt:lpstr>2- Literature Review</vt:lpstr>
      <vt:lpstr>3- Problem Formulation &amp; Methodology</vt:lpstr>
      <vt:lpstr>PowerPoint Presentation</vt:lpstr>
      <vt:lpstr>PowerPoint Presentation</vt:lpstr>
      <vt:lpstr>PowerPoint Presentation</vt:lpstr>
      <vt:lpstr>PowerPoint Presentation</vt:lpstr>
      <vt:lpstr>PowerPoint Presentation</vt:lpstr>
      <vt:lpstr>PowerPoint Presentation</vt:lpstr>
      <vt:lpstr>4- Experiments and Results      Synthetic Dataset</vt:lpstr>
      <vt:lpstr>PowerPoint Presentation</vt:lpstr>
      <vt:lpstr>PowerPoint Presentation</vt:lpstr>
      <vt:lpstr>PowerPoint Presentation</vt:lpstr>
      <vt:lpstr>  Performance Evaluation on a real dataset</vt:lpstr>
      <vt:lpstr>Real dataset info</vt:lpstr>
      <vt:lpstr>PowerPoint Presentation</vt:lpstr>
      <vt:lpstr>Results </vt:lpstr>
      <vt:lpstr>Relation to class material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Ralph Mouawad (Student)</dc:creator>
  <cp:lastModifiedBy>Ralph Mouawad (Student)</cp:lastModifiedBy>
  <cp:revision>7</cp:revision>
  <dcterms:created xsi:type="dcterms:W3CDTF">2023-11-12T18:27:01Z</dcterms:created>
  <dcterms:modified xsi:type="dcterms:W3CDTF">2024-04-09T19:05:53Z</dcterms:modified>
</cp:coreProperties>
</file>